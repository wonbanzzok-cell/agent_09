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2026년 10월 기준 AI 발전 현황을 정리한 자료입니다. 성능, 에이전트, 투자와 전력, 일자리, 규제와 안전 순서로 말씀드립니다. 일부 수치는 1차 보고서가 아닌 2차 요약에서 가져왔으므로 개별 수치는 참고용으로 봐 주시기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다룰 흐름은 다섯 가지입니다. 모델 성능, AI 에이전트의 확산, 투자와 전력 수요, 일자리와 임금, 그리고 각국의 규제와 안전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Stanford AI Index 2026에 따르면 AI 역량은 정체가 아니라 가속하고 있습니다. SWE-bench 코딩 벤치마크 최고 점수는 1년 사이 약 60%에서 100% 가까이로 올랐습니다. 다만 경계는 들쭉날쭉합니다. 국제수학올림피아드에서 금메달을 딴 모델이 아날로그 시계는 50.1%만 맞게 읽습니다. 대표 벤치마크만으로 실제 성능을 판단하기 어렵다는 뜻입니다. 오픈 웨이트 모델도 최전선에 가까워졌고, 상위 5개 중 4개가 중국 연구소 모델입니다. 모델 가격은 계속 내려가고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AI는 챗봇에서 도구를 쓰고, 웹을 탐색하고, 컴퓨터를 조작하는 에이전트로 넘어가고 있습니다. Gartner는 2026년 1분기에 출시되거나 갱신된 기업 애플리케이션의 80%가 AI 에이전트를 하나 이상 내장했다고 보고합니다. 2024년에는 33%였습니다. 도입률은 조사마다 달라서 기업의 65%가 이미 에이전트를 쓴다는 조사도 있고, 57.3%가 운영 중이라는 조사도 있습니다. 반면 파일럿의 약 88%는 운영 단계에 이르지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IEA에 따르면 데이터센터는 2025년에 약 485 TWh의 전력을 썼고, 2030년에는 약 950 TWh로 두 배 가까이 늘 전망입니다. 이는 전 세계 전력 수요의 약 3%입니다. 2025년 데이터센터 전력 수요는 17% 늘었고 AI 데이터센터는 50% 늘었습니다. 설비투자는 J.P. Morgan 추정 6,970억 달러, 다른 추정으로는 최대 6,300억 달러이며 2025년 기록인 3,880억 달러보다 약 62% 많습니다. AI 인프라 투자의 60% 이상은 연산 장비가 아니라 전력, 냉각, 건설에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PwC 2026 Global AI Jobs Barometer는 27개 국가와 지역의 채용 공고 10억 건 이상을 분석했습니다. AI 기술의 평균 임금 프리미엄은 62%이고, 정부 부문 16%에서 소비재 부문 118%까지 차이가 큽니다. AI 기술을 요구하는 일자리는 69% 늘어 전체 시장(9%)보다 약 8배 빨랐습니다. ZipRecruiter에 따르면 고용주의 38%가 기초 데이터 처리 업무를 신입에서 AI로 옮겼고 31%가 신입 경력 요건을 높였습니다. AI가 신입 일자리를 없애기보다는 요구 수준을 높이고 진입 경로를 좁히고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EU는 디지털 옴니버스 패키지로 독립형 고위험 AI 시스템의 의무를 2026년 8월에서 2027년 12월로 미뤘습니다. 투명성 의무는 2026년 8월 2일부터 그대로 적용됩니다. 미국은 2025년 12월 행정명령으로 주 AI 법에 대한 연방 선점을 추진하지만, 행정명령만으로 주법을 무효로 할 수는 없습니다. 한국의 AI 기본법은 2026년 1월 22일 시행되었고, 고영향 AI에 더 엄격한 의무를 두며 생성형 AI에는 사전 고지와 표시를 요구합니다. Stanford AI Index 2026에 따르면 기록된 AI 사고는 233건에서 362건으로 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첫째, 역량은 빠르게 오르지만 고르지 않고 벤치마크는 실제 신뢰도를 과대평가합니다. 둘째, 에이전트는 빠르게 퍼지지만 대부분의 파일럿이 운영 단계에 이르지 못합니다. 셋째, 투자는 사상 최대이고 전력이 제약입니다. 넷째, AI는 숙련 인력의 임금을 올리지만 신입의 진입 경로를 좁힙니다. 다섯째, 규제는 나라마다 갈라지고 안전 실무는 역량을 따라가지 못하고 있습니다.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EEEEE"/>
        </a:solidFill>
        <a:effectLst/>
      </p:bgPr>
    </p:bg>
    <p:spTree>
      <p:nvGrpSpPr>
        <p:cNvPr id="1" name=""/>
        <p:cNvGrpSpPr/>
        <p:nvPr/>
      </p:nvGrpSpPr>
      <p:grpSpPr/>
      <p:sp>
        <p:nvSpPr>
          <p:cNvPr id="2" name="TextBox 1"/>
          <p:cNvSpPr txBox="1"/>
          <p:nvPr/>
        </p:nvSpPr>
        <p:spPr>
          <a:xfrm>
            <a:off x="914400" y="1371600"/>
            <a:ext cx="4937760" cy="868680"/>
          </a:xfrm>
          <a:prstGeom prst="rect">
            <a:avLst/>
          </a:prstGeom>
          <a:noFill/>
        </p:spPr>
        <p:txBody>
          <a:bodyPr wrap="square" anchor="t" lIns="0" rIns="0" tIns="0" bIns="0">
            <a:spAutoFit/>
          </a:bodyPr>
          <a:lstStyle/>
          <a:p>
            <a:pPr algn="l">
              <a:lnSpc>
                <a:spcPct val="100000"/>
              </a:lnSpc>
            </a:pPr>
            <a:r>
              <a:rPr sz="5400" b="1">
                <a:solidFill>
                  <a:srgbClr val="111111"/>
                </a:solidFill>
                <a:latin typeface="Pretendard"/>
                <a:ea typeface="Pretendard"/>
                <a:cs typeface="Pretendard"/>
              </a:rPr>
              <a:t>AI 발전 2026</a:t>
            </a:r>
          </a:p>
        </p:txBody>
      </p:sp>
      <p:sp>
        <p:nvSpPr>
          <p:cNvPr id="3" name="TextBox 2"/>
          <p:cNvSpPr txBox="1"/>
          <p:nvPr/>
        </p:nvSpPr>
        <p:spPr>
          <a:xfrm>
            <a:off x="914400" y="2423160"/>
            <a:ext cx="4937760" cy="457200"/>
          </a:xfrm>
          <a:prstGeom prst="rect">
            <a:avLst/>
          </a:prstGeom>
          <a:noFill/>
        </p:spPr>
        <p:txBody>
          <a:bodyPr wrap="square" anchor="t" lIns="0" rIns="0" tIns="0" bIns="0">
            <a:spAutoFit/>
          </a:bodyPr>
          <a:lstStyle/>
          <a:p>
            <a:pPr algn="l">
              <a:lnSpc>
                <a:spcPct val="100000"/>
              </a:lnSpc>
            </a:pPr>
            <a:r>
              <a:rPr sz="2800" b="0">
                <a:solidFill>
                  <a:srgbClr val="333333"/>
                </a:solidFill>
                <a:latin typeface="Pretendard Light"/>
                <a:ea typeface="Pretendard Light"/>
                <a:cs typeface="Pretendard Light"/>
              </a:rPr>
              <a:t>빠르게, 그러나 고르지 않게</a:t>
            </a:r>
          </a:p>
        </p:txBody>
      </p:sp>
      <p:sp>
        <p:nvSpPr>
          <p:cNvPr id="4" name="TextBox 3"/>
          <p:cNvSpPr txBox="1"/>
          <p:nvPr/>
        </p:nvSpPr>
        <p:spPr>
          <a:xfrm>
            <a:off x="914400" y="3383280"/>
            <a:ext cx="274320" cy="384048"/>
          </a:xfrm>
          <a:prstGeom prst="rect">
            <a:avLst/>
          </a:prstGeom>
          <a:noFill/>
        </p:spPr>
        <p:txBody>
          <a:bodyPr wrap="square" anchor="t" lIns="0" rIns="0" tIns="0" bIns="0">
            <a:spAutoFit/>
          </a:bodyPr>
          <a:lstStyle/>
          <a:p>
            <a:pPr algn="l">
              <a:lnSpc>
                <a:spcPct val="100000"/>
              </a:lnSpc>
            </a:pPr>
            <a:r>
              <a:rPr sz="2400" b="1">
                <a:solidFill>
                  <a:srgbClr val="111111"/>
                </a:solidFill>
                <a:latin typeface="Pretendard"/>
                <a:ea typeface="Pretendard"/>
                <a:cs typeface="Pretendard"/>
              </a:rPr>
              <a:t>“</a:t>
            </a:r>
          </a:p>
        </p:txBody>
      </p:sp>
      <p:cxnSp>
        <p:nvCxnSpPr>
          <p:cNvPr id="5" name="Connector 4"/>
          <p:cNvCxnSpPr/>
          <p:nvPr/>
        </p:nvCxnSpPr>
        <p:spPr>
          <a:xfrm>
            <a:off x="1280160" y="3538728"/>
            <a:ext cx="21945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11880" y="3429000"/>
            <a:ext cx="21945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2026년 10월 현황</a:t>
            </a:r>
          </a:p>
        </p:txBody>
      </p:sp>
      <p:sp>
        <p:nvSpPr>
          <p:cNvPr id="7" name="TextBox 6"/>
          <p:cNvSpPr txBox="1"/>
          <p:nvPr/>
        </p:nvSpPr>
        <p:spPr>
          <a:xfrm>
            <a:off x="914400" y="4114800"/>
            <a:ext cx="4937760" cy="13716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성능, 에이전트, 투자, 일자리, 규제의 다섯 가지 흐름을</a:t>
            </a:r>
          </a:p>
          <a:p>
            <a:pPr algn="l">
              <a:lnSpc>
                <a:spcPct val="150000"/>
              </a:lnSpc>
            </a:pPr>
            <a:r>
              <a:rPr sz="1500" b="0">
                <a:solidFill>
                  <a:srgbClr val="777777"/>
                </a:solidFill>
                <a:latin typeface="Pretendard"/>
                <a:ea typeface="Pretendard"/>
                <a:cs typeface="Pretendard"/>
              </a:rPr>
              <a:t>2026년 10월까지 공개된 자료로 정리했습니다.</a:t>
            </a:r>
          </a:p>
        </p:txBody>
      </p:sp>
      <p:sp>
        <p:nvSpPr>
          <p:cNvPr id="8" name="Rectangle 7"/>
          <p:cNvSpPr/>
          <p:nvPr/>
        </p:nvSpPr>
        <p:spPr>
          <a:xfrm>
            <a:off x="6675120" y="822960"/>
            <a:ext cx="4602175" cy="4297680"/>
          </a:xfrm>
          <a:prstGeom prst="rect">
            <a:avLst/>
          </a:prstGeom>
          <a:solidFill>
            <a:srgbClr val="6F8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5257800"/>
            <a:ext cx="4602175"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AI 발전 현황</a:t>
            </a:r>
          </a:p>
        </p:txBody>
      </p:sp>
      <p:sp>
        <p:nvSpPr>
          <p:cNvPr id="10" name="TextBox 9"/>
          <p:cNvSpPr txBox="1"/>
          <p:nvPr/>
        </p:nvSpPr>
        <p:spPr>
          <a:xfrm>
            <a:off x="6675120" y="5504688"/>
            <a:ext cx="4602175" cy="201168"/>
          </a:xfrm>
          <a:prstGeom prst="rect">
            <a:avLst/>
          </a:prstGeom>
          <a:noFill/>
        </p:spPr>
        <p:txBody>
          <a:bodyPr wrap="square" anchor="t" lIns="0" rIns="0" tIns="0" bIns="0">
            <a:spAutoFit/>
          </a:bodyPr>
          <a:lstStyle/>
          <a:p>
            <a:pPr algn="l">
              <a:lnSpc>
                <a:spcPct val="100000"/>
              </a:lnSpc>
            </a:pPr>
            <a:r>
              <a:rPr sz="1100" b="0">
                <a:solidFill>
                  <a:srgbClr val="777777"/>
                </a:solidFill>
                <a:latin typeface="Pretendard"/>
                <a:ea typeface="Pretendard"/>
                <a:cs typeface="Pretendard"/>
              </a:rPr>
              <a:t>2026년 10월 기준 공개 자료 정리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EEEE"/>
        </a:solidFill>
        <a:effectLst/>
      </p:bgPr>
    </p:bg>
    <p:spTree>
      <p:nvGrpSpPr>
        <p:cNvPr id="1" name=""/>
        <p:cNvGrpSpPr/>
        <p:nvPr/>
      </p:nvGrpSpPr>
      <p:grpSpPr/>
      <p:sp>
        <p:nvSpPr>
          <p:cNvPr id="2" name="TextBox 1"/>
          <p:cNvSpPr txBox="1"/>
          <p:nvPr/>
        </p:nvSpPr>
        <p:spPr>
          <a:xfrm>
            <a:off x="914400" y="1188720"/>
            <a:ext cx="4937760" cy="868680"/>
          </a:xfrm>
          <a:prstGeom prst="rect">
            <a:avLst/>
          </a:prstGeom>
          <a:noFill/>
        </p:spPr>
        <p:txBody>
          <a:bodyPr wrap="square" anchor="t" lIns="0" rIns="0" tIns="0" bIns="0">
            <a:spAutoFit/>
          </a:bodyPr>
          <a:lstStyle/>
          <a:p>
            <a:pPr algn="l">
              <a:lnSpc>
                <a:spcPct val="100000"/>
              </a:lnSpc>
            </a:pPr>
            <a:r>
              <a:rPr sz="5400" b="1">
                <a:solidFill>
                  <a:srgbClr val="111111"/>
                </a:solidFill>
                <a:latin typeface="Pretendard"/>
                <a:ea typeface="Pretendard"/>
                <a:cs typeface="Pretendard"/>
              </a:rPr>
              <a:t>01</a:t>
            </a:r>
          </a:p>
        </p:txBody>
      </p:sp>
      <p:sp>
        <p:nvSpPr>
          <p:cNvPr id="3" name="TextBox 2"/>
          <p:cNvSpPr txBox="1"/>
          <p:nvPr/>
        </p:nvSpPr>
        <p:spPr>
          <a:xfrm>
            <a:off x="914400" y="2240280"/>
            <a:ext cx="6400800" cy="1005840"/>
          </a:xfrm>
          <a:prstGeom prst="rect">
            <a:avLst/>
          </a:prstGeom>
          <a:noFill/>
        </p:spPr>
        <p:txBody>
          <a:bodyPr wrap="square" anchor="t" lIns="0" rIns="0" tIns="0" bIns="0">
            <a:spAutoFit/>
          </a:bodyPr>
          <a:lstStyle/>
          <a:p>
            <a:pPr algn="l">
              <a:lnSpc>
                <a:spcPct val="100000"/>
              </a:lnSpc>
            </a:pPr>
            <a:r>
              <a:rPr sz="3200" b="1">
                <a:solidFill>
                  <a:srgbClr val="111111"/>
                </a:solidFill>
                <a:latin typeface="Pretendard"/>
                <a:ea typeface="Pretendard"/>
                <a:cs typeface="Pretendard"/>
              </a:rPr>
              <a:t>지금 AI는</a:t>
            </a:r>
          </a:p>
          <a:p>
            <a:pPr algn="l">
              <a:lnSpc>
                <a:spcPct val="100000"/>
              </a:lnSpc>
            </a:pPr>
            <a:r>
              <a:rPr sz="3200" b="1">
                <a:solidFill>
                  <a:srgbClr val="111111"/>
                </a:solidFill>
                <a:latin typeface="Pretendard"/>
                <a:ea typeface="Pretendard"/>
                <a:cs typeface="Pretendard"/>
              </a:rPr>
              <a:t>어디에 있는가</a:t>
            </a:r>
          </a:p>
        </p:txBody>
      </p:sp>
      <p:sp>
        <p:nvSpPr>
          <p:cNvPr id="4" name="TextBox 3"/>
          <p:cNvSpPr txBox="1"/>
          <p:nvPr/>
        </p:nvSpPr>
        <p:spPr>
          <a:xfrm>
            <a:off x="914400" y="3657600"/>
            <a:ext cx="274320" cy="384048"/>
          </a:xfrm>
          <a:prstGeom prst="rect">
            <a:avLst/>
          </a:prstGeom>
          <a:noFill/>
        </p:spPr>
        <p:txBody>
          <a:bodyPr wrap="square" anchor="t" lIns="0" rIns="0" tIns="0" bIns="0">
            <a:spAutoFit/>
          </a:bodyPr>
          <a:lstStyle/>
          <a:p>
            <a:pPr algn="l">
              <a:lnSpc>
                <a:spcPct val="100000"/>
              </a:lnSpc>
            </a:pPr>
            <a:r>
              <a:rPr sz="2400" b="1">
                <a:solidFill>
                  <a:srgbClr val="111111"/>
                </a:solidFill>
                <a:latin typeface="Pretendard"/>
                <a:ea typeface="Pretendard"/>
                <a:cs typeface="Pretendard"/>
              </a:rPr>
              <a:t>“</a:t>
            </a:r>
          </a:p>
        </p:txBody>
      </p:sp>
      <p:cxnSp>
        <p:nvCxnSpPr>
          <p:cNvPr id="5" name="Connector 4"/>
          <p:cNvCxnSpPr/>
          <p:nvPr/>
        </p:nvCxnSpPr>
        <p:spPr>
          <a:xfrm>
            <a:off x="1280160" y="3813048"/>
            <a:ext cx="21945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11880" y="3703320"/>
            <a:ext cx="21945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다섯 가지 흐름</a:t>
            </a:r>
          </a:p>
        </p:txBody>
      </p:sp>
      <p:sp>
        <p:nvSpPr>
          <p:cNvPr id="7" name="TextBox 6"/>
          <p:cNvSpPr txBox="1"/>
          <p:nvPr/>
        </p:nvSpPr>
        <p:spPr>
          <a:xfrm>
            <a:off x="914400" y="4343400"/>
            <a:ext cx="6400800" cy="73152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성능 · 에이전트 · 투자와 전력</a:t>
            </a:r>
          </a:p>
          <a:p>
            <a:pPr algn="l">
              <a:lnSpc>
                <a:spcPct val="150000"/>
              </a:lnSpc>
            </a:pPr>
            <a:r>
              <a:rPr sz="1500" b="0">
                <a:solidFill>
                  <a:srgbClr val="777777"/>
                </a:solidFill>
                <a:latin typeface="Pretendard"/>
                <a:ea typeface="Pretendard"/>
                <a:cs typeface="Pretendard"/>
              </a:rPr>
              <a:t>일자리 · 규제와 안전</a:t>
            </a:r>
          </a:p>
        </p:txBody>
      </p:sp>
      <p:sp>
        <p:nvSpPr>
          <p:cNvPr id="8" name="Rectangle 7"/>
          <p:cNvSpPr/>
          <p:nvPr/>
        </p:nvSpPr>
        <p:spPr>
          <a:xfrm>
            <a:off x="9875520" y="822960"/>
            <a:ext cx="1401775" cy="5212079"/>
          </a:xfrm>
          <a:prstGeom prst="rect">
            <a:avLst/>
          </a:prstGeom>
          <a:solidFill>
            <a:srgbClr val="6F8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EEEE"/>
        </a:solidFill>
        <a:effectLst/>
      </p:bgPr>
    </p:bg>
    <p:spTree>
      <p:nvGrpSpPr>
        <p:cNvPr id="1" name=""/>
        <p:cNvGrpSpPr/>
        <p:nvPr/>
      </p:nvGrpSpPr>
      <p:grpSpPr/>
      <p:sp>
        <p:nvSpPr>
          <p:cNvPr id="2" name="TextBox 1"/>
          <p:cNvSpPr txBox="1"/>
          <p:nvPr/>
        </p:nvSpPr>
        <p:spPr>
          <a:xfrm>
            <a:off x="914400" y="82296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01 성능</a:t>
            </a:r>
          </a:p>
        </p:txBody>
      </p:sp>
      <p:sp>
        <p:nvSpPr>
          <p:cNvPr id="3" name="TextBox 2"/>
          <p:cNvSpPr txBox="1"/>
          <p:nvPr/>
        </p:nvSpPr>
        <p:spPr>
          <a:xfrm>
            <a:off x="914400" y="1188720"/>
            <a:ext cx="4937760" cy="1005840"/>
          </a:xfrm>
          <a:prstGeom prst="rect">
            <a:avLst/>
          </a:prstGeom>
          <a:noFill/>
        </p:spPr>
        <p:txBody>
          <a:bodyPr wrap="square" anchor="t" lIns="0" rIns="0" tIns="0" bIns="0">
            <a:spAutoFit/>
          </a:bodyPr>
          <a:lstStyle/>
          <a:p>
            <a:pPr algn="l">
              <a:lnSpc>
                <a:spcPct val="100000"/>
              </a:lnSpc>
            </a:pPr>
            <a:r>
              <a:rPr sz="3200" b="1">
                <a:solidFill>
                  <a:srgbClr val="111111"/>
                </a:solidFill>
                <a:latin typeface="Pretendard"/>
                <a:ea typeface="Pretendard"/>
                <a:cs typeface="Pretendard"/>
              </a:rPr>
              <a:t>성능은 빠르게,</a:t>
            </a:r>
          </a:p>
          <a:p>
            <a:pPr algn="l">
              <a:lnSpc>
                <a:spcPct val="100000"/>
              </a:lnSpc>
            </a:pPr>
            <a:r>
              <a:rPr sz="3200" b="1">
                <a:solidFill>
                  <a:srgbClr val="111111"/>
                </a:solidFill>
                <a:latin typeface="Pretendard"/>
                <a:ea typeface="Pretendard"/>
                <a:cs typeface="Pretendard"/>
              </a:rPr>
              <a:t>고르지 않게 오른다</a:t>
            </a:r>
          </a:p>
        </p:txBody>
      </p:sp>
      <p:sp>
        <p:nvSpPr>
          <p:cNvPr id="4" name="TextBox 3"/>
          <p:cNvSpPr txBox="1"/>
          <p:nvPr/>
        </p:nvSpPr>
        <p:spPr>
          <a:xfrm>
            <a:off x="914400" y="246888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가속</a:t>
            </a:r>
          </a:p>
        </p:txBody>
      </p:sp>
      <p:sp>
        <p:nvSpPr>
          <p:cNvPr id="5" name="TextBox 4"/>
          <p:cNvSpPr txBox="1"/>
          <p:nvPr/>
        </p:nvSpPr>
        <p:spPr>
          <a:xfrm>
            <a:off x="914400" y="274320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SWE-bench 최고 점수가 1년 만에</a:t>
            </a:r>
          </a:p>
          <a:p>
            <a:pPr algn="l">
              <a:lnSpc>
                <a:spcPct val="150000"/>
              </a:lnSpc>
            </a:pPr>
            <a:r>
              <a:rPr sz="1500" b="0">
                <a:solidFill>
                  <a:srgbClr val="777777"/>
                </a:solidFill>
                <a:latin typeface="Pretendard"/>
                <a:ea typeface="Pretendard"/>
                <a:cs typeface="Pretendard"/>
              </a:rPr>
              <a:t>약 60%에서 100% 가까이로 올랐습니다.</a:t>
            </a:r>
          </a:p>
        </p:txBody>
      </p:sp>
      <p:cxnSp>
        <p:nvCxnSpPr>
          <p:cNvPr id="6" name="Connector 5"/>
          <p:cNvCxnSpPr/>
          <p:nvPr/>
        </p:nvCxnSpPr>
        <p:spPr>
          <a:xfrm>
            <a:off x="914400" y="3543300"/>
            <a:ext cx="49377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365760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들쭉날쭉한 경계</a:t>
            </a:r>
          </a:p>
        </p:txBody>
      </p:sp>
      <p:sp>
        <p:nvSpPr>
          <p:cNvPr id="8" name="TextBox 7"/>
          <p:cNvSpPr txBox="1"/>
          <p:nvPr/>
        </p:nvSpPr>
        <p:spPr>
          <a:xfrm>
            <a:off x="914400" y="393192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올림피아드 금메달 모델도 아날로그 시계는 50.1%만 읽습니다.</a:t>
            </a:r>
          </a:p>
        </p:txBody>
      </p:sp>
      <p:cxnSp>
        <p:nvCxnSpPr>
          <p:cNvPr id="9" name="Connector 8"/>
          <p:cNvCxnSpPr/>
          <p:nvPr/>
        </p:nvCxnSpPr>
        <p:spPr>
          <a:xfrm>
            <a:off x="914400" y="4732020"/>
            <a:ext cx="49377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14400" y="484632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좁혀진 격차</a:t>
            </a:r>
          </a:p>
        </p:txBody>
      </p:sp>
      <p:sp>
        <p:nvSpPr>
          <p:cNvPr id="11" name="TextBox 10"/>
          <p:cNvSpPr txBox="1"/>
          <p:nvPr/>
        </p:nvSpPr>
        <p:spPr>
          <a:xfrm>
            <a:off x="914400" y="512064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미국과 중국의 성능 격차는 사실상 사라졌습니다.</a:t>
            </a:r>
          </a:p>
        </p:txBody>
      </p:sp>
      <p:sp>
        <p:nvSpPr>
          <p:cNvPr id="12" name="TextBox 11"/>
          <p:cNvSpPr txBox="1"/>
          <p:nvPr/>
        </p:nvSpPr>
        <p:spPr>
          <a:xfrm>
            <a:off x="914400" y="5852159"/>
            <a:ext cx="4937760" cy="182880"/>
          </a:xfrm>
          <a:prstGeom prst="rect">
            <a:avLst/>
          </a:prstGeom>
          <a:noFill/>
        </p:spPr>
        <p:txBody>
          <a:bodyPr wrap="square" anchor="t" lIns="0" rIns="0" tIns="0" bIns="0">
            <a:spAutoFit/>
          </a:bodyPr>
          <a:lstStyle/>
          <a:p>
            <a:pPr algn="l">
              <a:lnSpc>
                <a:spcPct val="100000"/>
              </a:lnSpc>
            </a:pPr>
            <a:r>
              <a:rPr sz="1000" b="0">
                <a:solidFill>
                  <a:srgbClr val="777777"/>
                </a:solidFill>
                <a:latin typeface="Pretendard"/>
                <a:ea typeface="Pretendard"/>
                <a:cs typeface="Pretendard"/>
              </a:rPr>
              <a:t>출처: research/ai-development-research-v2.md</a:t>
            </a:r>
          </a:p>
        </p:txBody>
      </p:sp>
      <p:sp>
        <p:nvSpPr>
          <p:cNvPr id="13" name="Rectangle 12"/>
          <p:cNvSpPr/>
          <p:nvPr/>
        </p:nvSpPr>
        <p:spPr>
          <a:xfrm>
            <a:off x="6675120" y="822960"/>
            <a:ext cx="4602175" cy="4297680"/>
          </a:xfrm>
          <a:prstGeom prst="rect">
            <a:avLst/>
          </a:prstGeom>
          <a:solidFill>
            <a:srgbClr val="6F8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5257800"/>
            <a:ext cx="4602175"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들쭉날쭉한 경계</a:t>
            </a:r>
          </a:p>
        </p:txBody>
      </p:sp>
      <p:sp>
        <p:nvSpPr>
          <p:cNvPr id="15" name="TextBox 14"/>
          <p:cNvSpPr txBox="1"/>
          <p:nvPr/>
        </p:nvSpPr>
        <p:spPr>
          <a:xfrm>
            <a:off x="6675120" y="5504688"/>
            <a:ext cx="4602175" cy="201168"/>
          </a:xfrm>
          <a:prstGeom prst="rect">
            <a:avLst/>
          </a:prstGeom>
          <a:noFill/>
        </p:spPr>
        <p:txBody>
          <a:bodyPr wrap="square" anchor="t" lIns="0" rIns="0" tIns="0" bIns="0">
            <a:spAutoFit/>
          </a:bodyPr>
          <a:lstStyle/>
          <a:p>
            <a:pPr algn="l">
              <a:lnSpc>
                <a:spcPct val="100000"/>
              </a:lnSpc>
            </a:pPr>
            <a:r>
              <a:rPr sz="1100" b="0">
                <a:solidFill>
                  <a:srgbClr val="777777"/>
                </a:solidFill>
                <a:latin typeface="Pretendard"/>
                <a:ea typeface="Pretendard"/>
                <a:cs typeface="Pretendard"/>
              </a:rPr>
              <a:t>벤치마크 점수와 실제 성능은 다릅니다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EEEE"/>
        </a:solidFill>
        <a:effectLst/>
      </p:bgPr>
    </p:bg>
    <p:spTree>
      <p:nvGrpSpPr>
        <p:cNvPr id="1" name=""/>
        <p:cNvGrpSpPr/>
        <p:nvPr/>
      </p:nvGrpSpPr>
      <p:grpSpPr/>
      <p:sp>
        <p:nvSpPr>
          <p:cNvPr id="2" name="TextBox 1"/>
          <p:cNvSpPr txBox="1"/>
          <p:nvPr/>
        </p:nvSpPr>
        <p:spPr>
          <a:xfrm>
            <a:off x="914400" y="82296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02 에이전트</a:t>
            </a:r>
          </a:p>
        </p:txBody>
      </p:sp>
      <p:sp>
        <p:nvSpPr>
          <p:cNvPr id="3" name="TextBox 2"/>
          <p:cNvSpPr txBox="1"/>
          <p:nvPr/>
        </p:nvSpPr>
        <p:spPr>
          <a:xfrm>
            <a:off x="914400" y="1188720"/>
            <a:ext cx="4937760" cy="1005840"/>
          </a:xfrm>
          <a:prstGeom prst="rect">
            <a:avLst/>
          </a:prstGeom>
          <a:noFill/>
        </p:spPr>
        <p:txBody>
          <a:bodyPr wrap="square" anchor="t" lIns="0" rIns="0" tIns="0" bIns="0">
            <a:spAutoFit/>
          </a:bodyPr>
          <a:lstStyle/>
          <a:p>
            <a:pPr algn="l">
              <a:lnSpc>
                <a:spcPct val="100000"/>
              </a:lnSpc>
            </a:pPr>
            <a:r>
              <a:rPr sz="3200" b="1">
                <a:solidFill>
                  <a:srgbClr val="111111"/>
                </a:solidFill>
                <a:latin typeface="Pretendard"/>
                <a:ea typeface="Pretendard"/>
                <a:cs typeface="Pretendard"/>
              </a:rPr>
              <a:t>에이전트는 퍼졌지만</a:t>
            </a:r>
          </a:p>
          <a:p>
            <a:pPr algn="l">
              <a:lnSpc>
                <a:spcPct val="100000"/>
              </a:lnSpc>
            </a:pPr>
            <a:r>
              <a:rPr sz="3200" b="1">
                <a:solidFill>
                  <a:srgbClr val="111111"/>
                </a:solidFill>
                <a:latin typeface="Pretendard"/>
                <a:ea typeface="Pretendard"/>
                <a:cs typeface="Pretendard"/>
              </a:rPr>
              <a:t>운영은 어렵다</a:t>
            </a:r>
          </a:p>
        </p:txBody>
      </p:sp>
      <p:sp>
        <p:nvSpPr>
          <p:cNvPr id="4" name="TextBox 3"/>
          <p:cNvSpPr txBox="1"/>
          <p:nvPr/>
        </p:nvSpPr>
        <p:spPr>
          <a:xfrm>
            <a:off x="914400" y="246888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확산</a:t>
            </a:r>
          </a:p>
        </p:txBody>
      </p:sp>
      <p:sp>
        <p:nvSpPr>
          <p:cNvPr id="5" name="TextBox 4"/>
          <p:cNvSpPr txBox="1"/>
          <p:nvPr/>
        </p:nvSpPr>
        <p:spPr>
          <a:xfrm>
            <a:off x="914400" y="274320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1분기에 출시되거나 갱신된 기업 앱의 80%가</a:t>
            </a:r>
          </a:p>
          <a:p>
            <a:pPr algn="l">
              <a:lnSpc>
                <a:spcPct val="150000"/>
              </a:lnSpc>
            </a:pPr>
            <a:r>
              <a:rPr sz="1500" b="0">
                <a:solidFill>
                  <a:srgbClr val="777777"/>
                </a:solidFill>
                <a:latin typeface="Pretendard"/>
                <a:ea typeface="Pretendard"/>
                <a:cs typeface="Pretendard"/>
              </a:rPr>
              <a:t>에이전트를 내장했습니다.</a:t>
            </a:r>
          </a:p>
        </p:txBody>
      </p:sp>
      <p:cxnSp>
        <p:nvCxnSpPr>
          <p:cNvPr id="6" name="Connector 5"/>
          <p:cNvCxnSpPr/>
          <p:nvPr/>
        </p:nvCxnSpPr>
        <p:spPr>
          <a:xfrm>
            <a:off x="914400" y="3543300"/>
            <a:ext cx="49377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365760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운영 격차</a:t>
            </a:r>
          </a:p>
        </p:txBody>
      </p:sp>
      <p:sp>
        <p:nvSpPr>
          <p:cNvPr id="8" name="TextBox 7"/>
          <p:cNvSpPr txBox="1"/>
          <p:nvPr/>
        </p:nvSpPr>
        <p:spPr>
          <a:xfrm>
            <a:off x="914400" y="393192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에이전트 파일럿의 약 88%는 운영 단계에 이르지 못합니다.</a:t>
            </a:r>
          </a:p>
        </p:txBody>
      </p:sp>
      <p:cxnSp>
        <p:nvCxnSpPr>
          <p:cNvPr id="9" name="Connector 8"/>
          <p:cNvCxnSpPr/>
          <p:nvPr/>
        </p:nvCxnSpPr>
        <p:spPr>
          <a:xfrm>
            <a:off x="914400" y="4732020"/>
            <a:ext cx="49377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14400" y="484632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걸림돌</a:t>
            </a:r>
          </a:p>
        </p:txBody>
      </p:sp>
      <p:sp>
        <p:nvSpPr>
          <p:cNvPr id="11" name="TextBox 10"/>
          <p:cNvSpPr txBox="1"/>
          <p:nvPr/>
        </p:nvSpPr>
        <p:spPr>
          <a:xfrm>
            <a:off x="914400" y="512064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평가 공백 64%, 거버넌스 마찰 57%, 모델 신뢰성 51% 순입니다.</a:t>
            </a:r>
          </a:p>
        </p:txBody>
      </p:sp>
      <p:sp>
        <p:nvSpPr>
          <p:cNvPr id="12" name="TextBox 11"/>
          <p:cNvSpPr txBox="1"/>
          <p:nvPr/>
        </p:nvSpPr>
        <p:spPr>
          <a:xfrm>
            <a:off x="914400" y="5852159"/>
            <a:ext cx="4937760" cy="182880"/>
          </a:xfrm>
          <a:prstGeom prst="rect">
            <a:avLst/>
          </a:prstGeom>
          <a:noFill/>
        </p:spPr>
        <p:txBody>
          <a:bodyPr wrap="square" anchor="t" lIns="0" rIns="0" tIns="0" bIns="0">
            <a:spAutoFit/>
          </a:bodyPr>
          <a:lstStyle/>
          <a:p>
            <a:pPr algn="l">
              <a:lnSpc>
                <a:spcPct val="100000"/>
              </a:lnSpc>
            </a:pPr>
            <a:r>
              <a:rPr sz="1000" b="0">
                <a:solidFill>
                  <a:srgbClr val="777777"/>
                </a:solidFill>
                <a:latin typeface="Pretendard"/>
                <a:ea typeface="Pretendard"/>
                <a:cs typeface="Pretendard"/>
              </a:rPr>
              <a:t>출처: research/ai-development-research-v2.md</a:t>
            </a:r>
          </a:p>
        </p:txBody>
      </p:sp>
      <p:sp>
        <p:nvSpPr>
          <p:cNvPr id="13" name="Rectangle 12"/>
          <p:cNvSpPr/>
          <p:nvPr/>
        </p:nvSpPr>
        <p:spPr>
          <a:xfrm>
            <a:off x="6675120" y="822960"/>
            <a:ext cx="4602175" cy="4297680"/>
          </a:xfrm>
          <a:prstGeom prst="rect">
            <a:avLst/>
          </a:prstGeom>
          <a:solidFill>
            <a:srgbClr val="6F8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5257800"/>
            <a:ext cx="4602175"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챗봇에서 에이전트로</a:t>
            </a:r>
          </a:p>
        </p:txBody>
      </p:sp>
      <p:sp>
        <p:nvSpPr>
          <p:cNvPr id="15" name="TextBox 14"/>
          <p:cNvSpPr txBox="1"/>
          <p:nvPr/>
        </p:nvSpPr>
        <p:spPr>
          <a:xfrm>
            <a:off x="6675120" y="5504688"/>
            <a:ext cx="4602175" cy="201168"/>
          </a:xfrm>
          <a:prstGeom prst="rect">
            <a:avLst/>
          </a:prstGeom>
          <a:noFill/>
        </p:spPr>
        <p:txBody>
          <a:bodyPr wrap="square" anchor="t" lIns="0" rIns="0" tIns="0" bIns="0">
            <a:spAutoFit/>
          </a:bodyPr>
          <a:lstStyle/>
          <a:p>
            <a:pPr algn="l">
              <a:lnSpc>
                <a:spcPct val="100000"/>
              </a:lnSpc>
            </a:pPr>
            <a:r>
              <a:rPr sz="1100" b="0">
                <a:solidFill>
                  <a:srgbClr val="777777"/>
                </a:solidFill>
                <a:latin typeface="Pretendard"/>
                <a:ea typeface="Pretendard"/>
                <a:cs typeface="Pretendard"/>
              </a:rPr>
              <a:t>도구를 쓰고 컴퓨터를 조작하는 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EEEE"/>
        </a:solidFill>
        <a:effectLst/>
      </p:bgPr>
    </p:bg>
    <p:spTree>
      <p:nvGrpSpPr>
        <p:cNvPr id="1" name=""/>
        <p:cNvGrpSpPr/>
        <p:nvPr/>
      </p:nvGrpSpPr>
      <p:grpSpPr/>
      <p:sp>
        <p:nvSpPr>
          <p:cNvPr id="2" name="TextBox 1"/>
          <p:cNvSpPr txBox="1"/>
          <p:nvPr/>
        </p:nvSpPr>
        <p:spPr>
          <a:xfrm>
            <a:off x="914400" y="822960"/>
            <a:ext cx="10362895"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03 투자와 전력</a:t>
            </a:r>
          </a:p>
        </p:txBody>
      </p:sp>
      <p:sp>
        <p:nvSpPr>
          <p:cNvPr id="3" name="TextBox 2"/>
          <p:cNvSpPr txBox="1"/>
          <p:nvPr/>
        </p:nvSpPr>
        <p:spPr>
          <a:xfrm>
            <a:off x="914400" y="1188720"/>
            <a:ext cx="10362895" cy="548640"/>
          </a:xfrm>
          <a:prstGeom prst="rect">
            <a:avLst/>
          </a:prstGeom>
          <a:noFill/>
        </p:spPr>
        <p:txBody>
          <a:bodyPr wrap="square" anchor="t" lIns="0" rIns="0" tIns="0" bIns="0">
            <a:spAutoFit/>
          </a:bodyPr>
          <a:lstStyle/>
          <a:p>
            <a:pPr algn="l">
              <a:lnSpc>
                <a:spcPct val="100000"/>
              </a:lnSpc>
            </a:pPr>
            <a:r>
              <a:rPr sz="3200" b="1">
                <a:solidFill>
                  <a:srgbClr val="111111"/>
                </a:solidFill>
                <a:latin typeface="Pretendard"/>
                <a:ea typeface="Pretendard"/>
                <a:cs typeface="Pretendard"/>
              </a:rPr>
              <a:t>투자는 사상 최대, 병목은 전력</a:t>
            </a:r>
          </a:p>
        </p:txBody>
      </p:sp>
      <p:sp>
        <p:nvSpPr>
          <p:cNvPr id="4" name="TextBox 3"/>
          <p:cNvSpPr txBox="1"/>
          <p:nvPr/>
        </p:nvSpPr>
        <p:spPr>
          <a:xfrm>
            <a:off x="914400" y="1874519"/>
            <a:ext cx="10362895" cy="274320"/>
          </a:xfrm>
          <a:prstGeom prst="rect">
            <a:avLst/>
          </a:prstGeom>
          <a:noFill/>
        </p:spPr>
        <p:txBody>
          <a:bodyPr wrap="square" anchor="t" lIns="0" rIns="0" tIns="0" bIns="0">
            <a:spAutoFit/>
          </a:bodyPr>
          <a:lstStyle/>
          <a:p>
            <a:pPr algn="l">
              <a:lnSpc>
                <a:spcPct val="100000"/>
              </a:lnSpc>
            </a:pPr>
            <a:r>
              <a:rPr sz="1400" b="0">
                <a:solidFill>
                  <a:srgbClr val="777777"/>
                </a:solidFill>
                <a:latin typeface="Pretendard"/>
                <a:ea typeface="Pretendard"/>
                <a:cs typeface="Pretendard"/>
              </a:rPr>
              <a:t>전 세계 데이터센터 전력 소비량 (TWh)</a:t>
            </a:r>
          </a:p>
        </p:txBody>
      </p:sp>
      <p:sp>
        <p:nvSpPr>
          <p:cNvPr id="5" name="TextBox 4"/>
          <p:cNvSpPr txBox="1"/>
          <p:nvPr/>
        </p:nvSpPr>
        <p:spPr>
          <a:xfrm>
            <a:off x="914400" y="2468880"/>
            <a:ext cx="1554480" cy="548640"/>
          </a:xfrm>
          <a:prstGeom prst="rect">
            <a:avLst/>
          </a:prstGeom>
          <a:noFill/>
        </p:spPr>
        <p:txBody>
          <a:bodyPr wrap="square" anchor="ctr" lIns="0" rIns="0" tIns="0" bIns="0">
            <a:spAutoFit/>
          </a:bodyPr>
          <a:lstStyle/>
          <a:p>
            <a:pPr algn="l">
              <a:lnSpc>
                <a:spcPct val="100000"/>
              </a:lnSpc>
            </a:pPr>
            <a:r>
              <a:rPr sz="1500" b="0">
                <a:solidFill>
                  <a:srgbClr val="111111"/>
                </a:solidFill>
                <a:latin typeface="Pretendard"/>
                <a:ea typeface="Pretendard"/>
                <a:cs typeface="Pretendard"/>
              </a:rPr>
              <a:t>2025년</a:t>
            </a:r>
          </a:p>
        </p:txBody>
      </p:sp>
      <p:sp>
        <p:nvSpPr>
          <p:cNvPr id="6" name="Rectangle 5"/>
          <p:cNvSpPr/>
          <p:nvPr/>
        </p:nvSpPr>
        <p:spPr>
          <a:xfrm>
            <a:off x="2651760" y="2468880"/>
            <a:ext cx="2614221" cy="548640"/>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94581" y="2468880"/>
            <a:ext cx="5782713" cy="548640"/>
          </a:xfrm>
          <a:prstGeom prst="rect">
            <a:avLst/>
          </a:prstGeom>
          <a:noFill/>
        </p:spPr>
        <p:txBody>
          <a:bodyPr wrap="square" anchor="ctr" lIns="0" rIns="0" tIns="0" bIns="0">
            <a:spAutoFit/>
          </a:bodyPr>
          <a:lstStyle/>
          <a:p>
            <a:pPr algn="l">
              <a:lnSpc>
                <a:spcPct val="100000"/>
              </a:lnSpc>
            </a:pPr>
            <a:r>
              <a:rPr sz="2400" b="1">
                <a:solidFill>
                  <a:srgbClr val="111111"/>
                </a:solidFill>
                <a:latin typeface="Pretendard"/>
                <a:ea typeface="Pretendard"/>
                <a:cs typeface="Pretendard"/>
              </a:rPr>
              <a:t>485 TWh</a:t>
            </a:r>
          </a:p>
        </p:txBody>
      </p:sp>
      <p:sp>
        <p:nvSpPr>
          <p:cNvPr id="8" name="TextBox 7"/>
          <p:cNvSpPr txBox="1"/>
          <p:nvPr/>
        </p:nvSpPr>
        <p:spPr>
          <a:xfrm>
            <a:off x="914400" y="3337560"/>
            <a:ext cx="1554480" cy="548640"/>
          </a:xfrm>
          <a:prstGeom prst="rect">
            <a:avLst/>
          </a:prstGeom>
          <a:noFill/>
        </p:spPr>
        <p:txBody>
          <a:bodyPr wrap="square" anchor="ctr" lIns="0" rIns="0" tIns="0" bIns="0">
            <a:spAutoFit/>
          </a:bodyPr>
          <a:lstStyle/>
          <a:p>
            <a:pPr algn="l">
              <a:lnSpc>
                <a:spcPct val="100000"/>
              </a:lnSpc>
            </a:pPr>
            <a:r>
              <a:rPr sz="1500" b="0">
                <a:solidFill>
                  <a:srgbClr val="111111"/>
                </a:solidFill>
                <a:latin typeface="Pretendard"/>
                <a:ea typeface="Pretendard"/>
                <a:cs typeface="Pretendard"/>
              </a:rPr>
              <a:t>2030년 전망</a:t>
            </a:r>
          </a:p>
        </p:txBody>
      </p:sp>
      <p:sp>
        <p:nvSpPr>
          <p:cNvPr id="9" name="Rectangle 8"/>
          <p:cNvSpPr/>
          <p:nvPr/>
        </p:nvSpPr>
        <p:spPr>
          <a:xfrm>
            <a:off x="2651760" y="3337560"/>
            <a:ext cx="5120640" cy="548640"/>
          </a:xfrm>
          <a:prstGeom prst="rect">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3337560"/>
            <a:ext cx="3276295" cy="548640"/>
          </a:xfrm>
          <a:prstGeom prst="rect">
            <a:avLst/>
          </a:prstGeom>
          <a:noFill/>
        </p:spPr>
        <p:txBody>
          <a:bodyPr wrap="square" anchor="ctr" lIns="0" rIns="0" tIns="0" bIns="0">
            <a:spAutoFit/>
          </a:bodyPr>
          <a:lstStyle/>
          <a:p>
            <a:pPr algn="l">
              <a:lnSpc>
                <a:spcPct val="100000"/>
              </a:lnSpc>
            </a:pPr>
            <a:r>
              <a:rPr sz="3600" b="1">
                <a:solidFill>
                  <a:srgbClr val="6F8FB5"/>
                </a:solidFill>
                <a:latin typeface="Pretendard"/>
                <a:ea typeface="Pretendard"/>
                <a:cs typeface="Pretendard"/>
              </a:rPr>
              <a:t>약 950 TWh</a:t>
            </a:r>
          </a:p>
        </p:txBody>
      </p:sp>
      <p:cxnSp>
        <p:nvCxnSpPr>
          <p:cNvPr id="11" name="Connector 10"/>
          <p:cNvCxnSpPr/>
          <p:nvPr/>
        </p:nvCxnSpPr>
        <p:spPr>
          <a:xfrm>
            <a:off x="914400" y="4297680"/>
            <a:ext cx="10362895"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14400" y="4526280"/>
            <a:ext cx="31089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2026년 하이퍼스케일러 설비투자</a:t>
            </a:r>
          </a:p>
        </p:txBody>
      </p:sp>
      <p:sp>
        <p:nvSpPr>
          <p:cNvPr id="13" name="TextBox 12"/>
          <p:cNvSpPr txBox="1"/>
          <p:nvPr/>
        </p:nvSpPr>
        <p:spPr>
          <a:xfrm>
            <a:off x="914400" y="4800600"/>
            <a:ext cx="31089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6,300억~6,970억 달러로 추정됩니다.</a:t>
            </a:r>
          </a:p>
        </p:txBody>
      </p:sp>
      <p:sp>
        <p:nvSpPr>
          <p:cNvPr id="14" name="TextBox 13"/>
          <p:cNvSpPr txBox="1"/>
          <p:nvPr/>
        </p:nvSpPr>
        <p:spPr>
          <a:xfrm>
            <a:off x="4541367" y="4526280"/>
            <a:ext cx="31089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AI 인프라 비중</a:t>
            </a:r>
          </a:p>
        </p:txBody>
      </p:sp>
      <p:sp>
        <p:nvSpPr>
          <p:cNvPr id="15" name="TextBox 14"/>
          <p:cNvSpPr txBox="1"/>
          <p:nvPr/>
        </p:nvSpPr>
        <p:spPr>
          <a:xfrm>
            <a:off x="4541367" y="4800600"/>
            <a:ext cx="31089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설비투자의 약 75%가</a:t>
            </a:r>
          </a:p>
          <a:p>
            <a:pPr algn="l">
              <a:lnSpc>
                <a:spcPct val="150000"/>
              </a:lnSpc>
            </a:pPr>
            <a:r>
              <a:rPr sz="1500" b="0">
                <a:solidFill>
                  <a:srgbClr val="777777"/>
                </a:solidFill>
                <a:latin typeface="Pretendard"/>
                <a:ea typeface="Pretendard"/>
                <a:cs typeface="Pretendard"/>
              </a:rPr>
              <a:t>AI 인프라에 들어갑니다.</a:t>
            </a:r>
          </a:p>
        </p:txBody>
      </p:sp>
      <p:sp>
        <p:nvSpPr>
          <p:cNvPr id="16" name="TextBox 15"/>
          <p:cNvSpPr txBox="1"/>
          <p:nvPr/>
        </p:nvSpPr>
        <p:spPr>
          <a:xfrm>
            <a:off x="8168335" y="4526280"/>
            <a:ext cx="31089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AI 데이터센터</a:t>
            </a:r>
          </a:p>
        </p:txBody>
      </p:sp>
      <p:sp>
        <p:nvSpPr>
          <p:cNvPr id="17" name="TextBox 16"/>
          <p:cNvSpPr txBox="1"/>
          <p:nvPr/>
        </p:nvSpPr>
        <p:spPr>
          <a:xfrm>
            <a:off x="8168335" y="4800600"/>
            <a:ext cx="31089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AI 데이터센터의 전력 수요는</a:t>
            </a:r>
          </a:p>
          <a:p>
            <a:pPr algn="l">
              <a:lnSpc>
                <a:spcPct val="150000"/>
              </a:lnSpc>
            </a:pPr>
            <a:r>
              <a:rPr sz="1500" b="0">
                <a:solidFill>
                  <a:srgbClr val="777777"/>
                </a:solidFill>
                <a:latin typeface="Pretendard"/>
                <a:ea typeface="Pretendard"/>
                <a:cs typeface="Pretendard"/>
              </a:rPr>
              <a:t>2025년에 50% 늘었습니다.</a:t>
            </a:r>
          </a:p>
        </p:txBody>
      </p:sp>
      <p:sp>
        <p:nvSpPr>
          <p:cNvPr id="18" name="TextBox 17"/>
          <p:cNvSpPr txBox="1"/>
          <p:nvPr/>
        </p:nvSpPr>
        <p:spPr>
          <a:xfrm>
            <a:off x="914400" y="5852159"/>
            <a:ext cx="10362895" cy="182880"/>
          </a:xfrm>
          <a:prstGeom prst="rect">
            <a:avLst/>
          </a:prstGeom>
          <a:noFill/>
        </p:spPr>
        <p:txBody>
          <a:bodyPr wrap="square" anchor="t" lIns="0" rIns="0" tIns="0" bIns="0">
            <a:spAutoFit/>
          </a:bodyPr>
          <a:lstStyle/>
          <a:p>
            <a:pPr algn="l">
              <a:lnSpc>
                <a:spcPct val="100000"/>
              </a:lnSpc>
            </a:pPr>
            <a:r>
              <a:rPr sz="1000" b="0">
                <a:solidFill>
                  <a:srgbClr val="777777"/>
                </a:solidFill>
                <a:latin typeface="Pretendard"/>
                <a:ea typeface="Pretendard"/>
                <a:cs typeface="Pretendard"/>
              </a:rPr>
              <a:t>출처: IEA, J.P. Morgan (research/ai-development-research-v2.md)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EEEE"/>
        </a:solidFill>
        <a:effectLst/>
      </p:bgPr>
    </p:bg>
    <p:spTree>
      <p:nvGrpSpPr>
        <p:cNvPr id="1" name=""/>
        <p:cNvGrpSpPr/>
        <p:nvPr/>
      </p:nvGrpSpPr>
      <p:grpSpPr/>
      <p:sp>
        <p:nvSpPr>
          <p:cNvPr id="2" name="TextBox 1"/>
          <p:cNvSpPr txBox="1"/>
          <p:nvPr/>
        </p:nvSpPr>
        <p:spPr>
          <a:xfrm>
            <a:off x="914400" y="82296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04 일자리</a:t>
            </a:r>
          </a:p>
        </p:txBody>
      </p:sp>
      <p:sp>
        <p:nvSpPr>
          <p:cNvPr id="3" name="TextBox 2"/>
          <p:cNvSpPr txBox="1"/>
          <p:nvPr/>
        </p:nvSpPr>
        <p:spPr>
          <a:xfrm>
            <a:off x="914400" y="1188720"/>
            <a:ext cx="4937760" cy="1005840"/>
          </a:xfrm>
          <a:prstGeom prst="rect">
            <a:avLst/>
          </a:prstGeom>
          <a:noFill/>
        </p:spPr>
        <p:txBody>
          <a:bodyPr wrap="square" anchor="t" lIns="0" rIns="0" tIns="0" bIns="0">
            <a:spAutoFit/>
          </a:bodyPr>
          <a:lstStyle/>
          <a:p>
            <a:pPr algn="l">
              <a:lnSpc>
                <a:spcPct val="100000"/>
              </a:lnSpc>
            </a:pPr>
            <a:r>
              <a:rPr sz="3200" b="1">
                <a:solidFill>
                  <a:srgbClr val="111111"/>
                </a:solidFill>
                <a:latin typeface="Pretendard"/>
                <a:ea typeface="Pretendard"/>
                <a:cs typeface="Pretendard"/>
              </a:rPr>
              <a:t>보상은 늘고</a:t>
            </a:r>
          </a:p>
          <a:p>
            <a:pPr algn="l">
              <a:lnSpc>
                <a:spcPct val="100000"/>
              </a:lnSpc>
            </a:pPr>
            <a:r>
              <a:rPr sz="3200" b="1">
                <a:solidFill>
                  <a:srgbClr val="111111"/>
                </a:solidFill>
                <a:latin typeface="Pretendard"/>
                <a:ea typeface="Pretendard"/>
                <a:cs typeface="Pretendard"/>
              </a:rPr>
              <a:t>입구는 좁아진다</a:t>
            </a:r>
          </a:p>
        </p:txBody>
      </p:sp>
      <p:sp>
        <p:nvSpPr>
          <p:cNvPr id="4" name="TextBox 3"/>
          <p:cNvSpPr txBox="1"/>
          <p:nvPr/>
        </p:nvSpPr>
        <p:spPr>
          <a:xfrm>
            <a:off x="914400" y="246888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임금 프리미엄</a:t>
            </a:r>
          </a:p>
        </p:txBody>
      </p:sp>
      <p:sp>
        <p:nvSpPr>
          <p:cNvPr id="5" name="TextBox 4"/>
          <p:cNvSpPr txBox="1"/>
          <p:nvPr/>
        </p:nvSpPr>
        <p:spPr>
          <a:xfrm>
            <a:off x="914400" y="274320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AI 기술의 평균 임금 프리미엄은 57%에서 62%로 올랐습니다.</a:t>
            </a:r>
          </a:p>
        </p:txBody>
      </p:sp>
      <p:cxnSp>
        <p:nvCxnSpPr>
          <p:cNvPr id="6" name="Connector 5"/>
          <p:cNvCxnSpPr/>
          <p:nvPr/>
        </p:nvCxnSpPr>
        <p:spPr>
          <a:xfrm>
            <a:off x="914400" y="3543300"/>
            <a:ext cx="49377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365760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일자리 증가</a:t>
            </a:r>
          </a:p>
        </p:txBody>
      </p:sp>
      <p:sp>
        <p:nvSpPr>
          <p:cNvPr id="8" name="TextBox 7"/>
          <p:cNvSpPr txBox="1"/>
          <p:nvPr/>
        </p:nvSpPr>
        <p:spPr>
          <a:xfrm>
            <a:off x="914400" y="393192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AI 기술을 요구하는 일자리는 69% 늘었고,</a:t>
            </a:r>
          </a:p>
          <a:p>
            <a:pPr algn="l">
              <a:lnSpc>
                <a:spcPct val="150000"/>
              </a:lnSpc>
            </a:pPr>
            <a:r>
              <a:rPr sz="1500" b="0">
                <a:solidFill>
                  <a:srgbClr val="777777"/>
                </a:solidFill>
                <a:latin typeface="Pretendard"/>
                <a:ea typeface="Pretendard"/>
                <a:cs typeface="Pretendard"/>
              </a:rPr>
              <a:t>전체 시장은 9% 늘었습니다.</a:t>
            </a:r>
          </a:p>
        </p:txBody>
      </p:sp>
      <p:cxnSp>
        <p:nvCxnSpPr>
          <p:cNvPr id="9" name="Connector 8"/>
          <p:cNvCxnSpPr/>
          <p:nvPr/>
        </p:nvCxnSpPr>
        <p:spPr>
          <a:xfrm>
            <a:off x="914400" y="4732020"/>
            <a:ext cx="49377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14400" y="484632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신입의 문턱</a:t>
            </a:r>
          </a:p>
        </p:txBody>
      </p:sp>
      <p:sp>
        <p:nvSpPr>
          <p:cNvPr id="11" name="TextBox 10"/>
          <p:cNvSpPr txBox="1"/>
          <p:nvPr/>
        </p:nvSpPr>
        <p:spPr>
          <a:xfrm>
            <a:off x="914400" y="512064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고용주의 31%가 신입 직무의 경력 요건을 높였습니다.</a:t>
            </a:r>
          </a:p>
        </p:txBody>
      </p:sp>
      <p:sp>
        <p:nvSpPr>
          <p:cNvPr id="12" name="TextBox 11"/>
          <p:cNvSpPr txBox="1"/>
          <p:nvPr/>
        </p:nvSpPr>
        <p:spPr>
          <a:xfrm>
            <a:off x="914400" y="5852159"/>
            <a:ext cx="4937760" cy="182880"/>
          </a:xfrm>
          <a:prstGeom prst="rect">
            <a:avLst/>
          </a:prstGeom>
          <a:noFill/>
        </p:spPr>
        <p:txBody>
          <a:bodyPr wrap="square" anchor="t" lIns="0" rIns="0" tIns="0" bIns="0">
            <a:spAutoFit/>
          </a:bodyPr>
          <a:lstStyle/>
          <a:p>
            <a:pPr algn="l">
              <a:lnSpc>
                <a:spcPct val="100000"/>
              </a:lnSpc>
            </a:pPr>
            <a:r>
              <a:rPr sz="1000" b="0">
                <a:solidFill>
                  <a:srgbClr val="777777"/>
                </a:solidFill>
                <a:latin typeface="Pretendard"/>
                <a:ea typeface="Pretendard"/>
                <a:cs typeface="Pretendard"/>
              </a:rPr>
              <a:t>출처: research/ai-development-research-v2.md</a:t>
            </a:r>
          </a:p>
        </p:txBody>
      </p:sp>
      <p:sp>
        <p:nvSpPr>
          <p:cNvPr id="13" name="Rectangle 12"/>
          <p:cNvSpPr/>
          <p:nvPr/>
        </p:nvSpPr>
        <p:spPr>
          <a:xfrm>
            <a:off x="6675120" y="822960"/>
            <a:ext cx="4602175" cy="4297680"/>
          </a:xfrm>
          <a:prstGeom prst="rect">
            <a:avLst/>
          </a:prstGeom>
          <a:solidFill>
            <a:srgbClr val="6F8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5257800"/>
            <a:ext cx="4602175"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좁아지는 입구</a:t>
            </a:r>
          </a:p>
        </p:txBody>
      </p:sp>
      <p:sp>
        <p:nvSpPr>
          <p:cNvPr id="15" name="TextBox 14"/>
          <p:cNvSpPr txBox="1"/>
          <p:nvPr/>
        </p:nvSpPr>
        <p:spPr>
          <a:xfrm>
            <a:off x="6675120" y="5504688"/>
            <a:ext cx="4602175" cy="201168"/>
          </a:xfrm>
          <a:prstGeom prst="rect">
            <a:avLst/>
          </a:prstGeom>
          <a:noFill/>
        </p:spPr>
        <p:txBody>
          <a:bodyPr wrap="square" anchor="t" lIns="0" rIns="0" tIns="0" bIns="0">
            <a:spAutoFit/>
          </a:bodyPr>
          <a:lstStyle/>
          <a:p>
            <a:pPr algn="l">
              <a:lnSpc>
                <a:spcPct val="100000"/>
              </a:lnSpc>
            </a:pPr>
            <a:r>
              <a:rPr sz="1100" b="0">
                <a:solidFill>
                  <a:srgbClr val="777777"/>
                </a:solidFill>
                <a:latin typeface="Pretendard"/>
                <a:ea typeface="Pretendard"/>
                <a:cs typeface="Pretendard"/>
              </a:rPr>
              <a:t>신입에게 요구되는 역량이 높아집니다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EEEE"/>
        </a:solidFill>
        <a:effectLst/>
      </p:bgPr>
    </p:bg>
    <p:spTree>
      <p:nvGrpSpPr>
        <p:cNvPr id="1" name=""/>
        <p:cNvGrpSpPr/>
        <p:nvPr/>
      </p:nvGrpSpPr>
      <p:grpSpPr/>
      <p:sp>
        <p:nvSpPr>
          <p:cNvPr id="2" name="TextBox 1"/>
          <p:cNvSpPr txBox="1"/>
          <p:nvPr/>
        </p:nvSpPr>
        <p:spPr>
          <a:xfrm>
            <a:off x="914400" y="82296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05 규제와 안전</a:t>
            </a:r>
          </a:p>
        </p:txBody>
      </p:sp>
      <p:sp>
        <p:nvSpPr>
          <p:cNvPr id="3" name="TextBox 2"/>
          <p:cNvSpPr txBox="1"/>
          <p:nvPr/>
        </p:nvSpPr>
        <p:spPr>
          <a:xfrm>
            <a:off x="914400" y="1188720"/>
            <a:ext cx="4937760" cy="1005840"/>
          </a:xfrm>
          <a:prstGeom prst="rect">
            <a:avLst/>
          </a:prstGeom>
          <a:noFill/>
        </p:spPr>
        <p:txBody>
          <a:bodyPr wrap="square" anchor="t" lIns="0" rIns="0" tIns="0" bIns="0">
            <a:spAutoFit/>
          </a:bodyPr>
          <a:lstStyle/>
          <a:p>
            <a:pPr algn="l">
              <a:lnSpc>
                <a:spcPct val="100000"/>
              </a:lnSpc>
            </a:pPr>
            <a:r>
              <a:rPr sz="3200" b="1">
                <a:solidFill>
                  <a:srgbClr val="111111"/>
                </a:solidFill>
                <a:latin typeface="Pretendard"/>
                <a:ea typeface="Pretendard"/>
                <a:cs typeface="Pretendard"/>
              </a:rPr>
              <a:t>규제는 갈라지고</a:t>
            </a:r>
          </a:p>
          <a:p>
            <a:pPr algn="l">
              <a:lnSpc>
                <a:spcPct val="100000"/>
              </a:lnSpc>
            </a:pPr>
            <a:r>
              <a:rPr sz="3200" b="1">
                <a:solidFill>
                  <a:srgbClr val="111111"/>
                </a:solidFill>
                <a:latin typeface="Pretendard"/>
                <a:ea typeface="Pretendard"/>
                <a:cs typeface="Pretendard"/>
              </a:rPr>
              <a:t>안전은 뒤처진다</a:t>
            </a:r>
          </a:p>
        </p:txBody>
      </p:sp>
      <p:sp>
        <p:nvSpPr>
          <p:cNvPr id="4" name="TextBox 3"/>
          <p:cNvSpPr txBox="1"/>
          <p:nvPr/>
        </p:nvSpPr>
        <p:spPr>
          <a:xfrm>
            <a:off x="914400" y="246888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EU와 미국</a:t>
            </a:r>
          </a:p>
        </p:txBody>
      </p:sp>
      <p:sp>
        <p:nvSpPr>
          <p:cNvPr id="5" name="TextBox 4"/>
          <p:cNvSpPr txBox="1"/>
          <p:nvPr/>
        </p:nvSpPr>
        <p:spPr>
          <a:xfrm>
            <a:off x="914400" y="274320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EU는 고위험 AI 의무를 2027년 12월로 미뤘습니다.</a:t>
            </a:r>
          </a:p>
          <a:p>
            <a:pPr algn="l">
              <a:lnSpc>
                <a:spcPct val="150000"/>
              </a:lnSpc>
            </a:pPr>
            <a:r>
              <a:rPr sz="1500" b="0">
                <a:solidFill>
                  <a:srgbClr val="777777"/>
                </a:solidFill>
                <a:latin typeface="Pretendard"/>
                <a:ea typeface="Pretendard"/>
                <a:cs typeface="Pretendard"/>
              </a:rPr>
              <a:t>미국은 연방 선점을 추진합니다.</a:t>
            </a:r>
          </a:p>
        </p:txBody>
      </p:sp>
      <p:cxnSp>
        <p:nvCxnSpPr>
          <p:cNvPr id="6" name="Connector 5"/>
          <p:cNvCxnSpPr/>
          <p:nvPr/>
        </p:nvCxnSpPr>
        <p:spPr>
          <a:xfrm>
            <a:off x="914400" y="3543300"/>
            <a:ext cx="49377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365760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한국</a:t>
            </a:r>
          </a:p>
        </p:txBody>
      </p:sp>
      <p:sp>
        <p:nvSpPr>
          <p:cNvPr id="8" name="TextBox 7"/>
          <p:cNvSpPr txBox="1"/>
          <p:nvPr/>
        </p:nvSpPr>
        <p:spPr>
          <a:xfrm>
            <a:off x="914400" y="393192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AI 기본법이 2026년 1월 22일 시행되었습니다.</a:t>
            </a:r>
          </a:p>
        </p:txBody>
      </p:sp>
      <p:cxnSp>
        <p:nvCxnSpPr>
          <p:cNvPr id="9" name="Connector 8"/>
          <p:cNvCxnSpPr/>
          <p:nvPr/>
        </p:nvCxnSpPr>
        <p:spPr>
          <a:xfrm>
            <a:off x="914400" y="4732020"/>
            <a:ext cx="49377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14400" y="484632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안전</a:t>
            </a:r>
          </a:p>
        </p:txBody>
      </p:sp>
      <p:sp>
        <p:nvSpPr>
          <p:cNvPr id="11" name="TextBox 10"/>
          <p:cNvSpPr txBox="1"/>
          <p:nvPr/>
        </p:nvSpPr>
        <p:spPr>
          <a:xfrm>
            <a:off x="914400" y="5120640"/>
            <a:ext cx="4937760" cy="68580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기록된 AI 사고는 1년 사이 233건에서 362건으로 늘었습니다.</a:t>
            </a:r>
          </a:p>
        </p:txBody>
      </p:sp>
      <p:sp>
        <p:nvSpPr>
          <p:cNvPr id="12" name="TextBox 11"/>
          <p:cNvSpPr txBox="1"/>
          <p:nvPr/>
        </p:nvSpPr>
        <p:spPr>
          <a:xfrm>
            <a:off x="914400" y="5852159"/>
            <a:ext cx="4937760" cy="182880"/>
          </a:xfrm>
          <a:prstGeom prst="rect">
            <a:avLst/>
          </a:prstGeom>
          <a:noFill/>
        </p:spPr>
        <p:txBody>
          <a:bodyPr wrap="square" anchor="t" lIns="0" rIns="0" tIns="0" bIns="0">
            <a:spAutoFit/>
          </a:bodyPr>
          <a:lstStyle/>
          <a:p>
            <a:pPr algn="l">
              <a:lnSpc>
                <a:spcPct val="100000"/>
              </a:lnSpc>
            </a:pPr>
            <a:r>
              <a:rPr sz="1000" b="0">
                <a:solidFill>
                  <a:srgbClr val="777777"/>
                </a:solidFill>
                <a:latin typeface="Pretendard"/>
                <a:ea typeface="Pretendard"/>
                <a:cs typeface="Pretendard"/>
              </a:rPr>
              <a:t>출처: research/ai-development-research-v2.md</a:t>
            </a:r>
          </a:p>
        </p:txBody>
      </p:sp>
      <p:sp>
        <p:nvSpPr>
          <p:cNvPr id="13" name="Rectangle 12"/>
          <p:cNvSpPr/>
          <p:nvPr/>
        </p:nvSpPr>
        <p:spPr>
          <a:xfrm>
            <a:off x="6675120" y="822960"/>
            <a:ext cx="4602175" cy="4297680"/>
          </a:xfrm>
          <a:prstGeom prst="rect">
            <a:avLst/>
          </a:prstGeom>
          <a:solidFill>
            <a:srgbClr val="6F8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5257800"/>
            <a:ext cx="4602175"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서로 다른 길</a:t>
            </a:r>
          </a:p>
        </p:txBody>
      </p:sp>
      <p:sp>
        <p:nvSpPr>
          <p:cNvPr id="15" name="TextBox 14"/>
          <p:cNvSpPr txBox="1"/>
          <p:nvPr/>
        </p:nvSpPr>
        <p:spPr>
          <a:xfrm>
            <a:off x="6675120" y="5504688"/>
            <a:ext cx="4602175" cy="201168"/>
          </a:xfrm>
          <a:prstGeom prst="rect">
            <a:avLst/>
          </a:prstGeom>
          <a:noFill/>
        </p:spPr>
        <p:txBody>
          <a:bodyPr wrap="square" anchor="t" lIns="0" rIns="0" tIns="0" bIns="0">
            <a:spAutoFit/>
          </a:bodyPr>
          <a:lstStyle/>
          <a:p>
            <a:pPr algn="l">
              <a:lnSpc>
                <a:spcPct val="100000"/>
              </a:lnSpc>
            </a:pPr>
            <a:r>
              <a:rPr sz="1100" b="0">
                <a:solidFill>
                  <a:srgbClr val="777777"/>
                </a:solidFill>
                <a:latin typeface="Pretendard"/>
                <a:ea typeface="Pretendard"/>
                <a:cs typeface="Pretendard"/>
              </a:rPr>
              <a:t>EU는 연기, 미국은 선점, 한국은 시행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EEEE"/>
        </a:solidFill>
        <a:effectLst/>
      </p:bgPr>
    </p:bg>
    <p:spTree>
      <p:nvGrpSpPr>
        <p:cNvPr id="1" name=""/>
        <p:cNvGrpSpPr/>
        <p:nvPr/>
      </p:nvGrpSpPr>
      <p:grpSpPr/>
      <p:sp>
        <p:nvSpPr>
          <p:cNvPr id="2" name="TextBox 1"/>
          <p:cNvSpPr txBox="1"/>
          <p:nvPr/>
        </p:nvSpPr>
        <p:spPr>
          <a:xfrm>
            <a:off x="914400" y="822960"/>
            <a:ext cx="49377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핵심 정리</a:t>
            </a:r>
          </a:p>
        </p:txBody>
      </p:sp>
      <p:sp>
        <p:nvSpPr>
          <p:cNvPr id="3" name="TextBox 2"/>
          <p:cNvSpPr txBox="1"/>
          <p:nvPr/>
        </p:nvSpPr>
        <p:spPr>
          <a:xfrm>
            <a:off x="914400" y="1188720"/>
            <a:ext cx="4937760" cy="1005840"/>
          </a:xfrm>
          <a:prstGeom prst="rect">
            <a:avLst/>
          </a:prstGeom>
          <a:noFill/>
        </p:spPr>
        <p:txBody>
          <a:bodyPr wrap="square" anchor="t" lIns="0" rIns="0" tIns="0" bIns="0">
            <a:spAutoFit/>
          </a:bodyPr>
          <a:lstStyle/>
          <a:p>
            <a:pPr algn="l">
              <a:lnSpc>
                <a:spcPct val="100000"/>
              </a:lnSpc>
            </a:pPr>
            <a:r>
              <a:rPr sz="3200" b="1">
                <a:solidFill>
                  <a:srgbClr val="111111"/>
                </a:solidFill>
                <a:latin typeface="Pretendard"/>
                <a:ea typeface="Pretendard"/>
                <a:cs typeface="Pretendard"/>
              </a:rPr>
              <a:t>역량은 앞서가고</a:t>
            </a:r>
          </a:p>
          <a:p>
            <a:pPr algn="l">
              <a:lnSpc>
                <a:spcPct val="100000"/>
              </a:lnSpc>
            </a:pPr>
            <a:r>
              <a:rPr sz="3200" b="1">
                <a:solidFill>
                  <a:srgbClr val="111111"/>
                </a:solidFill>
                <a:latin typeface="Pretendard"/>
                <a:ea typeface="Pretendard"/>
                <a:cs typeface="Pretendard"/>
              </a:rPr>
              <a:t>나머지가 따라간다</a:t>
            </a:r>
          </a:p>
        </p:txBody>
      </p:sp>
      <p:sp>
        <p:nvSpPr>
          <p:cNvPr id="4" name="TextBox 3"/>
          <p:cNvSpPr txBox="1"/>
          <p:nvPr/>
        </p:nvSpPr>
        <p:spPr>
          <a:xfrm>
            <a:off x="914400" y="2560320"/>
            <a:ext cx="274320" cy="384048"/>
          </a:xfrm>
          <a:prstGeom prst="rect">
            <a:avLst/>
          </a:prstGeom>
          <a:noFill/>
        </p:spPr>
        <p:txBody>
          <a:bodyPr wrap="square" anchor="t" lIns="0" rIns="0" tIns="0" bIns="0">
            <a:spAutoFit/>
          </a:bodyPr>
          <a:lstStyle/>
          <a:p>
            <a:pPr algn="l">
              <a:lnSpc>
                <a:spcPct val="100000"/>
              </a:lnSpc>
            </a:pPr>
            <a:r>
              <a:rPr sz="2400" b="1">
                <a:solidFill>
                  <a:srgbClr val="111111"/>
                </a:solidFill>
                <a:latin typeface="Pretendard"/>
                <a:ea typeface="Pretendard"/>
                <a:cs typeface="Pretendard"/>
              </a:rPr>
              <a:t>“</a:t>
            </a:r>
          </a:p>
        </p:txBody>
      </p:sp>
      <p:cxnSp>
        <p:nvCxnSpPr>
          <p:cNvPr id="5" name="Connector 4"/>
          <p:cNvCxnSpPr/>
          <p:nvPr/>
        </p:nvCxnSpPr>
        <p:spPr>
          <a:xfrm>
            <a:off x="1280160" y="2715768"/>
            <a:ext cx="21945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11880" y="2606039"/>
            <a:ext cx="2194560"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감사합니다</a:t>
            </a:r>
          </a:p>
        </p:txBody>
      </p:sp>
      <p:sp>
        <p:nvSpPr>
          <p:cNvPr id="7" name="TextBox 6"/>
          <p:cNvSpPr txBox="1"/>
          <p:nvPr/>
        </p:nvSpPr>
        <p:spPr>
          <a:xfrm>
            <a:off x="914400" y="3246120"/>
            <a:ext cx="4937760" cy="1737360"/>
          </a:xfrm>
          <a:prstGeom prst="rect">
            <a:avLst/>
          </a:prstGeom>
          <a:noFill/>
        </p:spPr>
        <p:txBody>
          <a:bodyPr wrap="square" anchor="t" lIns="0" rIns="0" tIns="0" bIns="0">
            <a:spAutoFit/>
          </a:bodyPr>
          <a:lstStyle/>
          <a:p>
            <a:pPr algn="l">
              <a:lnSpc>
                <a:spcPct val="150000"/>
              </a:lnSpc>
            </a:pPr>
            <a:r>
              <a:rPr sz="1500" b="0">
                <a:solidFill>
                  <a:srgbClr val="777777"/>
                </a:solidFill>
                <a:latin typeface="Pretendard"/>
                <a:ea typeface="Pretendard"/>
                <a:cs typeface="Pretendard"/>
              </a:rPr>
              <a:t>성능은 빠르게 오르지만 고르지 않습니다.</a:t>
            </a:r>
          </a:p>
          <a:p>
            <a:pPr algn="l">
              <a:lnSpc>
                <a:spcPct val="150000"/>
              </a:lnSpc>
            </a:pPr>
            <a:r>
              <a:rPr sz="1500" b="0">
                <a:solidFill>
                  <a:srgbClr val="777777"/>
                </a:solidFill>
                <a:latin typeface="Pretendard"/>
                <a:ea typeface="Pretendard"/>
                <a:cs typeface="Pretendard"/>
              </a:rPr>
              <a:t>에이전트 운영과 전력이 실제 제약입니다.</a:t>
            </a:r>
          </a:p>
          <a:p>
            <a:pPr algn="l">
              <a:lnSpc>
                <a:spcPct val="150000"/>
              </a:lnSpc>
            </a:pPr>
            <a:r>
              <a:rPr sz="1500" b="0">
                <a:solidFill>
                  <a:srgbClr val="777777"/>
                </a:solidFill>
                <a:latin typeface="Pretendard"/>
                <a:ea typeface="Pretendard"/>
                <a:cs typeface="Pretendard"/>
              </a:rPr>
              <a:t>일자리와 규제는 아직 방향을 찾고 있습니다.</a:t>
            </a:r>
          </a:p>
        </p:txBody>
      </p:sp>
      <p:cxnSp>
        <p:nvCxnSpPr>
          <p:cNvPr id="8" name="Connector 7"/>
          <p:cNvCxnSpPr/>
          <p:nvPr/>
        </p:nvCxnSpPr>
        <p:spPr>
          <a:xfrm>
            <a:off x="914400" y="5074920"/>
            <a:ext cx="4937760" cy="0"/>
          </a:xfrm>
          <a:prstGeom prst="line">
            <a:avLst/>
          </a:prstGeom>
          <a:ln w="9525">
            <a:solidFill>
              <a:srgbClr val="BDBDBD"/>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5212080"/>
            <a:ext cx="4937760" cy="731520"/>
          </a:xfrm>
          <a:prstGeom prst="rect">
            <a:avLst/>
          </a:prstGeom>
          <a:noFill/>
        </p:spPr>
        <p:txBody>
          <a:bodyPr wrap="square" anchor="t" lIns="0" rIns="0" tIns="0" bIns="0">
            <a:spAutoFit/>
          </a:bodyPr>
          <a:lstStyle/>
          <a:p>
            <a:pPr algn="l">
              <a:lnSpc>
                <a:spcPct val="150000"/>
              </a:lnSpc>
            </a:pPr>
            <a:r>
              <a:rPr sz="1000" b="0">
                <a:solidFill>
                  <a:srgbClr val="777777"/>
                </a:solidFill>
                <a:latin typeface="Pretendard"/>
                <a:ea typeface="Pretendard"/>
                <a:cs typeface="Pretendard"/>
              </a:rPr>
              <a:t>주요 출처: Stanford AI Index 2026, IEA</a:t>
            </a:r>
          </a:p>
          <a:p>
            <a:pPr algn="l">
              <a:lnSpc>
                <a:spcPct val="150000"/>
              </a:lnSpc>
            </a:pPr>
            <a:r>
              <a:rPr sz="1000" b="0">
                <a:solidFill>
                  <a:srgbClr val="777777"/>
                </a:solidFill>
                <a:latin typeface="Pretendard"/>
                <a:ea typeface="Pretendard"/>
                <a:cs typeface="Pretendard"/>
              </a:rPr>
              <a:t>International AI Safety Report 2026</a:t>
            </a:r>
          </a:p>
          <a:p>
            <a:pPr algn="l">
              <a:lnSpc>
                <a:spcPct val="150000"/>
              </a:lnSpc>
            </a:pPr>
            <a:r>
              <a:rPr sz="1000" b="0">
                <a:solidFill>
                  <a:srgbClr val="777777"/>
                </a:solidFill>
                <a:latin typeface="Pretendard"/>
                <a:ea typeface="Pretendard"/>
                <a:cs typeface="Pretendard"/>
              </a:rPr>
              <a:t>PwC 2026 Global AI Jobs Barometer</a:t>
            </a:r>
          </a:p>
        </p:txBody>
      </p:sp>
      <p:sp>
        <p:nvSpPr>
          <p:cNvPr id="10" name="Rectangle 9"/>
          <p:cNvSpPr/>
          <p:nvPr/>
        </p:nvSpPr>
        <p:spPr>
          <a:xfrm>
            <a:off x="6675120" y="822960"/>
            <a:ext cx="4602175" cy="4297680"/>
          </a:xfrm>
          <a:prstGeom prst="rect">
            <a:avLst/>
          </a:prstGeom>
          <a:solidFill>
            <a:srgbClr val="6F8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5257800"/>
            <a:ext cx="4602175" cy="201168"/>
          </a:xfrm>
          <a:prstGeom prst="rect">
            <a:avLst/>
          </a:prstGeom>
          <a:noFill/>
        </p:spPr>
        <p:txBody>
          <a:bodyPr wrap="square" anchor="t" lIns="0" rIns="0" tIns="0" bIns="0">
            <a:spAutoFit/>
          </a:bodyPr>
          <a:lstStyle/>
          <a:p>
            <a:pPr algn="l">
              <a:lnSpc>
                <a:spcPct val="100000"/>
              </a:lnSpc>
            </a:pPr>
            <a:r>
              <a:rPr sz="1200" b="0">
                <a:solidFill>
                  <a:srgbClr val="111111"/>
                </a:solidFill>
                <a:latin typeface="Pretendard SemiBold"/>
                <a:ea typeface="Pretendard SemiBold"/>
                <a:cs typeface="Pretendard SemiBold"/>
              </a:rPr>
              <a:t>AI 발전 2026</a:t>
            </a:r>
          </a:p>
        </p:txBody>
      </p:sp>
      <p:sp>
        <p:nvSpPr>
          <p:cNvPr id="12" name="TextBox 11"/>
          <p:cNvSpPr txBox="1"/>
          <p:nvPr/>
        </p:nvSpPr>
        <p:spPr>
          <a:xfrm>
            <a:off x="6675120" y="5504688"/>
            <a:ext cx="4602175" cy="201168"/>
          </a:xfrm>
          <a:prstGeom prst="rect">
            <a:avLst/>
          </a:prstGeom>
          <a:noFill/>
        </p:spPr>
        <p:txBody>
          <a:bodyPr wrap="square" anchor="t" lIns="0" rIns="0" tIns="0" bIns="0">
            <a:spAutoFit/>
          </a:bodyPr>
          <a:lstStyle/>
          <a:p>
            <a:pPr algn="l">
              <a:lnSpc>
                <a:spcPct val="100000"/>
              </a:lnSpc>
            </a:pPr>
            <a:r>
              <a:rPr sz="1100" b="0">
                <a:solidFill>
                  <a:srgbClr val="777777"/>
                </a:solidFill>
                <a:latin typeface="Pretendard"/>
                <a:ea typeface="Pretendard"/>
                <a:cs typeface="Pretendard"/>
              </a:rPr>
              <a:t>2026년 10월 기준 공개 자료 정리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발전 2026</dc:title>
  <dc:subject>빠르게, 그러나 고르지 않게</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