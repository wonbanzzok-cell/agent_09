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어시스턴트 Claude를 개발한 회사 Anthropic을 소개합니다. 회사 개요, 미션과 핵심 가치, 주요 제품 순서로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Anthropic은 2021년 OpenAI 출신 연구진이 설립했습니다. 다리오 아모데이가 CEO, 다니엘라 아모데이가 사장을 맡고 있습니다. 주주 이익뿐 아니라 공익을 함께 추구하도록 정관에 명시한 공익법인(PBC)이며, 장기이익신탁(Long-Term Benefit Trust)이 이사 선임에 관여하는 지배구조를 갖추고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Anthropic의 미션은 인류가 변혁적 AI로의 전환을 안전하게 통과하도록 하는 것입니다. 헌법적 AI는 모델이 따를 원칙을 명시해 학습시키는 방식입니다. 책임 있는 확장 정책(RSP)은 2023년에 발표한 자체 안전 기준으로, 모델의 위험 수준에 따라 요구되는 안전 조치를 정합니다. 해석 가능성 연구는 모델 내부에서 어떤 일이 일어나는지 이해하려는 연구입니다.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모델은 성능과 속도에 따라 Opus, Sonnet, Haiku 세 등급으로 나뉩니다. 일반 사용자는 Claude 앱으로, 개발자는 Claude Code와 API로 모델을 사용합니다. API는 Amazon Bedrock, Google Cloud Vertex AI 같은 클라우드에서도 제공됩니다.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Anthropic은 안전을 최우선으로 하는 AI 기업입니다. 공익법인이라는 기업 형태와 안전 연구로 그 원칙을 뒷받침하고, Claude 제품군으로 이를 실제 서비스에 적용하고 있습니다.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6A10"/>
        </a:solidFill>
        <a:effectLst/>
      </p:bgPr>
    </p:bg>
    <p:spTree>
      <p:nvGrpSpPr>
        <p:cNvPr id="1" name=""/>
        <p:cNvGrpSpPr/>
        <p:nvPr/>
      </p:nvGrpSpPr>
      <p:grpSpPr/>
      <p:sp>
        <p:nvSpPr>
          <p:cNvPr id="2" name="TextBox 1"/>
          <p:cNvSpPr txBox="1"/>
          <p:nvPr/>
        </p:nvSpPr>
        <p:spPr>
          <a:xfrm>
            <a:off x="548640" y="2103120"/>
            <a:ext cx="11094415" cy="914400"/>
          </a:xfrm>
          <a:prstGeom prst="rect">
            <a:avLst/>
          </a:prstGeom>
          <a:noFill/>
        </p:spPr>
        <p:txBody>
          <a:bodyPr wrap="square" anchor="ctr">
            <a:spAutoFit/>
          </a:bodyPr>
          <a:lstStyle/>
          <a:p>
            <a:pPr algn="l"/>
            <a:r>
              <a:rPr sz="5400" b="1">
                <a:solidFill>
                  <a:srgbClr val="FFFFFF"/>
                </a:solidFill>
                <a:latin typeface="맑은 고딕"/>
                <a:ea typeface="맑은 고딕"/>
                <a:cs typeface="맑은 고딕"/>
              </a:rPr>
              <a:t>Anthropic</a:t>
            </a:r>
          </a:p>
        </p:txBody>
      </p:sp>
      <p:sp>
        <p:nvSpPr>
          <p:cNvPr id="3" name="Rectangle 2"/>
          <p:cNvSpPr/>
          <p:nvPr/>
        </p:nvSpPr>
        <p:spPr>
          <a:xfrm>
            <a:off x="548640" y="3154680"/>
            <a:ext cx="10972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383280"/>
            <a:ext cx="11094415" cy="640080"/>
          </a:xfrm>
          <a:prstGeom prst="rect">
            <a:avLst/>
          </a:prstGeom>
          <a:noFill/>
        </p:spPr>
        <p:txBody>
          <a:bodyPr wrap="square" anchor="ctr">
            <a:spAutoFit/>
          </a:bodyPr>
          <a:lstStyle/>
          <a:p>
            <a:pPr algn="l"/>
            <a:r>
              <a:rPr sz="2800" b="0">
                <a:solidFill>
                  <a:srgbClr val="FFFFFF"/>
                </a:solidFill>
                <a:latin typeface="맑은 고딕"/>
                <a:ea typeface="맑은 고딕"/>
                <a:cs typeface="맑은 고딕"/>
              </a:rPr>
              <a:t>Claude를 만드는 AI 회사</a:t>
            </a:r>
          </a:p>
        </p:txBody>
      </p:sp>
      <p:sp>
        <p:nvSpPr>
          <p:cNvPr id="5" name="TextBox 4"/>
          <p:cNvSpPr txBox="1"/>
          <p:nvPr/>
        </p:nvSpPr>
        <p:spPr>
          <a:xfrm>
            <a:off x="548640" y="5760720"/>
            <a:ext cx="11094415" cy="457200"/>
          </a:xfrm>
          <a:prstGeom prst="rect">
            <a:avLst/>
          </a:prstGeom>
          <a:noFill/>
        </p:spPr>
        <p:txBody>
          <a:bodyPr wrap="square" anchor="ctr">
            <a:spAutoFit/>
          </a:bodyPr>
          <a:lstStyle/>
          <a:p>
            <a:pPr algn="l"/>
            <a:r>
              <a:rPr sz="1600" b="0">
                <a:solidFill>
                  <a:srgbClr val="FFFFFF"/>
                </a:solidFill>
                <a:latin typeface="맑은 고딕"/>
                <a:ea typeface="맑은 고딕"/>
                <a:cs typeface="맑은 고딕"/>
              </a:rPr>
              <a:t>회사 소개  |  2026. 10.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731520"/>
          </a:xfrm>
          <a:prstGeom prst="rect">
            <a:avLst/>
          </a:prstGeom>
          <a:noFill/>
        </p:spPr>
        <p:txBody>
          <a:bodyPr wrap="square" anchor="ctr">
            <a:spAutoFit/>
          </a:bodyPr>
          <a:lstStyle/>
          <a:p>
            <a:pPr algn="l"/>
            <a:r>
              <a:rPr sz="3400" b="1">
                <a:solidFill>
                  <a:srgbClr val="262626"/>
                </a:solidFill>
                <a:latin typeface="맑은 고딕"/>
                <a:ea typeface="맑은 고딕"/>
                <a:cs typeface="맑은 고딕"/>
              </a:rPr>
              <a:t>회사 개요</a:t>
            </a:r>
          </a:p>
        </p:txBody>
      </p:sp>
      <p:sp>
        <p:nvSpPr>
          <p:cNvPr id="3" name="Rectangle 2"/>
          <p:cNvSpPr/>
          <p:nvPr/>
        </p:nvSpPr>
        <p:spPr>
          <a:xfrm>
            <a:off x="548640" y="1234440"/>
            <a:ext cx="1097280" cy="73152"/>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172200"/>
            <a:ext cx="1371600" cy="274320"/>
          </a:xfrm>
          <a:prstGeom prst="rect">
            <a:avLst/>
          </a:prstGeom>
          <a:noFill/>
        </p:spPr>
        <p:txBody>
          <a:bodyPr wrap="square" anchor="t">
            <a:spAutoFit/>
          </a:bodyPr>
          <a:lstStyle/>
          <a:p>
            <a:pPr algn="r"/>
            <a:r>
              <a:rPr sz="1200" b="0">
                <a:solidFill>
                  <a:srgbClr val="595959"/>
                </a:solidFill>
                <a:latin typeface="맑은 고딕"/>
                <a:ea typeface="맑은 고딕"/>
                <a:cs typeface="맑은 고딕"/>
              </a:rPr>
              <a:t>2 / 5</a:t>
            </a:r>
          </a:p>
        </p:txBody>
      </p:sp>
      <p:sp>
        <p:nvSpPr>
          <p:cNvPr id="5" name="Rectangle 4"/>
          <p:cNvSpPr/>
          <p:nvPr/>
        </p:nvSpPr>
        <p:spPr>
          <a:xfrm>
            <a:off x="548640" y="1645920"/>
            <a:ext cx="53949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91440" cy="210312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365760"/>
          </a:xfrm>
          <a:prstGeom prst="rect">
            <a:avLst/>
          </a:prstGeom>
          <a:noFill/>
        </p:spPr>
        <p:txBody>
          <a:bodyPr wrap="square" anchor="t">
            <a:spAutoFit/>
          </a:bodyPr>
          <a:lstStyle/>
          <a:p>
            <a:pPr algn="l"/>
            <a:r>
              <a:rPr sz="1600" b="1">
                <a:solidFill>
                  <a:srgbClr val="E86A10"/>
                </a:solidFill>
                <a:latin typeface="맑은 고딕"/>
                <a:ea typeface="맑은 고딕"/>
                <a:cs typeface="맑은 고딕"/>
              </a:rPr>
              <a:t>설립</a:t>
            </a:r>
          </a:p>
        </p:txBody>
      </p:sp>
      <p:sp>
        <p:nvSpPr>
          <p:cNvPr id="8" name="TextBox 7"/>
          <p:cNvSpPr txBox="1"/>
          <p:nvPr/>
        </p:nvSpPr>
        <p:spPr>
          <a:xfrm>
            <a:off x="914400" y="2240280"/>
            <a:ext cx="4754880" cy="640080"/>
          </a:xfrm>
          <a:prstGeom prst="rect">
            <a:avLst/>
          </a:prstGeom>
          <a:noFill/>
        </p:spPr>
        <p:txBody>
          <a:bodyPr wrap="square" anchor="ctr">
            <a:spAutoFit/>
          </a:bodyPr>
          <a:lstStyle/>
          <a:p>
            <a:pPr algn="l"/>
            <a:r>
              <a:rPr sz="2800" b="1">
                <a:solidFill>
                  <a:srgbClr val="262626"/>
                </a:solidFill>
                <a:latin typeface="맑은 고딕"/>
                <a:ea typeface="맑은 고딕"/>
                <a:cs typeface="맑은 고딕"/>
              </a:rPr>
              <a:t>2021년</a:t>
            </a:r>
          </a:p>
        </p:txBody>
      </p:sp>
      <p:sp>
        <p:nvSpPr>
          <p:cNvPr id="9" name="TextBox 8"/>
          <p:cNvSpPr txBox="1"/>
          <p:nvPr/>
        </p:nvSpPr>
        <p:spPr>
          <a:xfrm>
            <a:off x="914400" y="2971800"/>
            <a:ext cx="4754880" cy="64008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다리오·다니엘라 아모데이 남매 등 AI 연구진이 공동 설립</a:t>
            </a:r>
          </a:p>
        </p:txBody>
      </p:sp>
      <p:sp>
        <p:nvSpPr>
          <p:cNvPr id="10" name="Rectangle 9"/>
          <p:cNvSpPr/>
          <p:nvPr/>
        </p:nvSpPr>
        <p:spPr>
          <a:xfrm>
            <a:off x="6248095" y="1645920"/>
            <a:ext cx="53949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645920"/>
            <a:ext cx="91440" cy="210312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3855" y="1828800"/>
            <a:ext cx="4754880" cy="365760"/>
          </a:xfrm>
          <a:prstGeom prst="rect">
            <a:avLst/>
          </a:prstGeom>
          <a:noFill/>
        </p:spPr>
        <p:txBody>
          <a:bodyPr wrap="square" anchor="t">
            <a:spAutoFit/>
          </a:bodyPr>
          <a:lstStyle/>
          <a:p>
            <a:pPr algn="l"/>
            <a:r>
              <a:rPr sz="1600" b="1">
                <a:solidFill>
                  <a:srgbClr val="E86A10"/>
                </a:solidFill>
                <a:latin typeface="맑은 고딕"/>
                <a:ea typeface="맑은 고딕"/>
                <a:cs typeface="맑은 고딕"/>
              </a:rPr>
              <a:t>본사</a:t>
            </a:r>
          </a:p>
        </p:txBody>
      </p:sp>
      <p:sp>
        <p:nvSpPr>
          <p:cNvPr id="13" name="TextBox 12"/>
          <p:cNvSpPr txBox="1"/>
          <p:nvPr/>
        </p:nvSpPr>
        <p:spPr>
          <a:xfrm>
            <a:off x="6613855" y="2240280"/>
            <a:ext cx="4754880" cy="640080"/>
          </a:xfrm>
          <a:prstGeom prst="rect">
            <a:avLst/>
          </a:prstGeom>
          <a:noFill/>
        </p:spPr>
        <p:txBody>
          <a:bodyPr wrap="square" anchor="ctr">
            <a:spAutoFit/>
          </a:bodyPr>
          <a:lstStyle/>
          <a:p>
            <a:pPr algn="l"/>
            <a:r>
              <a:rPr sz="2800" b="1">
                <a:solidFill>
                  <a:srgbClr val="262626"/>
                </a:solidFill>
                <a:latin typeface="맑은 고딕"/>
                <a:ea typeface="맑은 고딕"/>
                <a:cs typeface="맑은 고딕"/>
              </a:rPr>
              <a:t>미국 샌프란시스코</a:t>
            </a:r>
          </a:p>
        </p:txBody>
      </p:sp>
      <p:sp>
        <p:nvSpPr>
          <p:cNvPr id="14" name="TextBox 13"/>
          <p:cNvSpPr txBox="1"/>
          <p:nvPr/>
        </p:nvSpPr>
        <p:spPr>
          <a:xfrm>
            <a:off x="6613855" y="2971800"/>
            <a:ext cx="4754880" cy="64008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미국·유럽·아시아에 거점을 둔 글로벌 기업</a:t>
            </a:r>
          </a:p>
        </p:txBody>
      </p:sp>
      <p:sp>
        <p:nvSpPr>
          <p:cNvPr id="15" name="Rectangle 14"/>
          <p:cNvSpPr/>
          <p:nvPr/>
        </p:nvSpPr>
        <p:spPr>
          <a:xfrm>
            <a:off x="548640" y="3977640"/>
            <a:ext cx="53949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77640"/>
            <a:ext cx="91440" cy="210312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160520"/>
            <a:ext cx="4754880" cy="365760"/>
          </a:xfrm>
          <a:prstGeom prst="rect">
            <a:avLst/>
          </a:prstGeom>
          <a:noFill/>
        </p:spPr>
        <p:txBody>
          <a:bodyPr wrap="square" anchor="t">
            <a:spAutoFit/>
          </a:bodyPr>
          <a:lstStyle/>
          <a:p>
            <a:pPr algn="l"/>
            <a:r>
              <a:rPr sz="1600" b="1">
                <a:solidFill>
                  <a:srgbClr val="E86A10"/>
                </a:solidFill>
                <a:latin typeface="맑은 고딕"/>
                <a:ea typeface="맑은 고딕"/>
                <a:cs typeface="맑은 고딕"/>
              </a:rPr>
              <a:t>기업 형태</a:t>
            </a:r>
          </a:p>
        </p:txBody>
      </p:sp>
      <p:sp>
        <p:nvSpPr>
          <p:cNvPr id="18" name="TextBox 17"/>
          <p:cNvSpPr txBox="1"/>
          <p:nvPr/>
        </p:nvSpPr>
        <p:spPr>
          <a:xfrm>
            <a:off x="914400" y="4572000"/>
            <a:ext cx="4754880" cy="640080"/>
          </a:xfrm>
          <a:prstGeom prst="rect">
            <a:avLst/>
          </a:prstGeom>
          <a:noFill/>
        </p:spPr>
        <p:txBody>
          <a:bodyPr wrap="square" anchor="ctr">
            <a:spAutoFit/>
          </a:bodyPr>
          <a:lstStyle/>
          <a:p>
            <a:pPr algn="l"/>
            <a:r>
              <a:rPr sz="2800" b="1">
                <a:solidFill>
                  <a:srgbClr val="262626"/>
                </a:solidFill>
                <a:latin typeface="맑은 고딕"/>
                <a:ea typeface="맑은 고딕"/>
                <a:cs typeface="맑은 고딕"/>
              </a:rPr>
              <a:t>공익법인 (PBC)</a:t>
            </a:r>
          </a:p>
        </p:txBody>
      </p:sp>
      <p:sp>
        <p:nvSpPr>
          <p:cNvPr id="19" name="TextBox 18"/>
          <p:cNvSpPr txBox="1"/>
          <p:nvPr/>
        </p:nvSpPr>
        <p:spPr>
          <a:xfrm>
            <a:off x="914400" y="5303520"/>
            <a:ext cx="4754880" cy="64008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수익과 함께 공익 추구를 정관에 명시</a:t>
            </a:r>
          </a:p>
        </p:txBody>
      </p:sp>
      <p:sp>
        <p:nvSpPr>
          <p:cNvPr id="20" name="Rectangle 19"/>
          <p:cNvSpPr/>
          <p:nvPr/>
        </p:nvSpPr>
        <p:spPr>
          <a:xfrm>
            <a:off x="6248095" y="3977640"/>
            <a:ext cx="53949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8095" y="3977640"/>
            <a:ext cx="91440" cy="210312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3855" y="4160520"/>
            <a:ext cx="4754880" cy="365760"/>
          </a:xfrm>
          <a:prstGeom prst="rect">
            <a:avLst/>
          </a:prstGeom>
          <a:noFill/>
        </p:spPr>
        <p:txBody>
          <a:bodyPr wrap="square" anchor="t">
            <a:spAutoFit/>
          </a:bodyPr>
          <a:lstStyle/>
          <a:p>
            <a:pPr algn="l"/>
            <a:r>
              <a:rPr sz="1600" b="1">
                <a:solidFill>
                  <a:srgbClr val="E86A10"/>
                </a:solidFill>
                <a:latin typeface="맑은 고딕"/>
                <a:ea typeface="맑은 고딕"/>
                <a:cs typeface="맑은 고딕"/>
              </a:rPr>
              <a:t>사업 영역</a:t>
            </a:r>
          </a:p>
        </p:txBody>
      </p:sp>
      <p:sp>
        <p:nvSpPr>
          <p:cNvPr id="23" name="TextBox 22"/>
          <p:cNvSpPr txBox="1"/>
          <p:nvPr/>
        </p:nvSpPr>
        <p:spPr>
          <a:xfrm>
            <a:off x="6613855" y="4572000"/>
            <a:ext cx="4754880" cy="640080"/>
          </a:xfrm>
          <a:prstGeom prst="rect">
            <a:avLst/>
          </a:prstGeom>
          <a:noFill/>
        </p:spPr>
        <p:txBody>
          <a:bodyPr wrap="square" anchor="ctr">
            <a:spAutoFit/>
          </a:bodyPr>
          <a:lstStyle/>
          <a:p>
            <a:pPr algn="l"/>
            <a:r>
              <a:rPr sz="2800" b="1">
                <a:solidFill>
                  <a:srgbClr val="262626"/>
                </a:solidFill>
                <a:latin typeface="맑은 고딕"/>
                <a:ea typeface="맑은 고딕"/>
                <a:cs typeface="맑은 고딕"/>
              </a:rPr>
              <a:t>AI 안전 연구·개발</a:t>
            </a:r>
          </a:p>
        </p:txBody>
      </p:sp>
      <p:sp>
        <p:nvSpPr>
          <p:cNvPr id="24" name="TextBox 23"/>
          <p:cNvSpPr txBox="1"/>
          <p:nvPr/>
        </p:nvSpPr>
        <p:spPr>
          <a:xfrm>
            <a:off x="6613855" y="5303520"/>
            <a:ext cx="4754880" cy="64008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AI 모델 Claude를 연구하고 제품으로 제공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731520"/>
          </a:xfrm>
          <a:prstGeom prst="rect">
            <a:avLst/>
          </a:prstGeom>
          <a:noFill/>
        </p:spPr>
        <p:txBody>
          <a:bodyPr wrap="square" anchor="ctr">
            <a:spAutoFit/>
          </a:bodyPr>
          <a:lstStyle/>
          <a:p>
            <a:pPr algn="l"/>
            <a:r>
              <a:rPr sz="3400" b="1">
                <a:solidFill>
                  <a:srgbClr val="262626"/>
                </a:solidFill>
                <a:latin typeface="맑은 고딕"/>
                <a:ea typeface="맑은 고딕"/>
                <a:cs typeface="맑은 고딕"/>
              </a:rPr>
              <a:t>미션과 핵심 가치</a:t>
            </a:r>
          </a:p>
        </p:txBody>
      </p:sp>
      <p:sp>
        <p:nvSpPr>
          <p:cNvPr id="3" name="Rectangle 2"/>
          <p:cNvSpPr/>
          <p:nvPr/>
        </p:nvSpPr>
        <p:spPr>
          <a:xfrm>
            <a:off x="548640" y="1234440"/>
            <a:ext cx="1097280" cy="73152"/>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172200"/>
            <a:ext cx="1371600" cy="274320"/>
          </a:xfrm>
          <a:prstGeom prst="rect">
            <a:avLst/>
          </a:prstGeom>
          <a:noFill/>
        </p:spPr>
        <p:txBody>
          <a:bodyPr wrap="square" anchor="t">
            <a:spAutoFit/>
          </a:bodyPr>
          <a:lstStyle/>
          <a:p>
            <a:pPr algn="r"/>
            <a:r>
              <a:rPr sz="1200" b="0">
                <a:solidFill>
                  <a:srgbClr val="595959"/>
                </a:solidFill>
                <a:latin typeface="맑은 고딕"/>
                <a:ea typeface="맑은 고딕"/>
                <a:cs typeface="맑은 고딕"/>
              </a:rPr>
              <a:t>3 / 5</a:t>
            </a:r>
          </a:p>
        </p:txBody>
      </p:sp>
      <p:sp>
        <p:nvSpPr>
          <p:cNvPr id="5" name="Rectangle 4"/>
          <p:cNvSpPr/>
          <p:nvPr/>
        </p:nvSpPr>
        <p:spPr>
          <a:xfrm>
            <a:off x="548640" y="1645920"/>
            <a:ext cx="11094415" cy="1005840"/>
          </a:xfrm>
          <a:prstGeom prst="rect">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2895" cy="1005840"/>
          </a:xfrm>
          <a:prstGeom prst="rect">
            <a:avLst/>
          </a:prstGeom>
          <a:noFill/>
        </p:spPr>
        <p:txBody>
          <a:bodyPr wrap="square" anchor="ctr">
            <a:spAutoFit/>
          </a:bodyPr>
          <a:lstStyle/>
          <a:p>
            <a:pPr algn="l"/>
            <a:r>
              <a:rPr sz="2400" b="1">
                <a:solidFill>
                  <a:srgbClr val="E86A10"/>
                </a:solidFill>
                <a:latin typeface="맑은 고딕"/>
                <a:ea typeface="맑은 고딕"/>
                <a:cs typeface="맑은 고딕"/>
              </a:rPr>
              <a:t>미션: 인류가 변혁적 AI로의 전환을 안전하게 통과하도록 한다</a:t>
            </a:r>
          </a:p>
        </p:txBody>
      </p:sp>
      <p:sp>
        <p:nvSpPr>
          <p:cNvPr id="7" name="Rectangle 6"/>
          <p:cNvSpPr/>
          <p:nvPr/>
        </p:nvSpPr>
        <p:spPr>
          <a:xfrm>
            <a:off x="548640" y="3108960"/>
            <a:ext cx="228600" cy="22860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3840480" cy="59436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안전 우선</a:t>
            </a:r>
          </a:p>
        </p:txBody>
      </p:sp>
      <p:sp>
        <p:nvSpPr>
          <p:cNvPr id="9" name="TextBox 8"/>
          <p:cNvSpPr txBox="1"/>
          <p:nvPr/>
        </p:nvSpPr>
        <p:spPr>
          <a:xfrm>
            <a:off x="4937760" y="2926080"/>
            <a:ext cx="6705295" cy="594360"/>
          </a:xfrm>
          <a:prstGeom prst="rect">
            <a:avLst/>
          </a:prstGeom>
          <a:noFill/>
        </p:spPr>
        <p:txBody>
          <a:bodyPr wrap="square" anchor="ctr">
            <a:spAutoFit/>
          </a:bodyPr>
          <a:lstStyle/>
          <a:p>
            <a:pPr algn="l"/>
            <a:r>
              <a:rPr sz="1800" b="0">
                <a:solidFill>
                  <a:srgbClr val="595959"/>
                </a:solidFill>
                <a:latin typeface="맑은 고딕"/>
                <a:ea typeface="맑은 고딕"/>
                <a:cs typeface="맑은 고딕"/>
              </a:rPr>
              <a:t>성능 경쟁보다 안전성 검증을 앞에 둔다</a:t>
            </a:r>
          </a:p>
        </p:txBody>
      </p:sp>
      <p:sp>
        <p:nvSpPr>
          <p:cNvPr id="10" name="Rectangle 9"/>
          <p:cNvSpPr/>
          <p:nvPr/>
        </p:nvSpPr>
        <p:spPr>
          <a:xfrm>
            <a:off x="548640" y="3886200"/>
            <a:ext cx="228600" cy="22860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703320"/>
            <a:ext cx="3840480" cy="59436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헌법적 AI</a:t>
            </a:r>
          </a:p>
        </p:txBody>
      </p:sp>
      <p:sp>
        <p:nvSpPr>
          <p:cNvPr id="12" name="TextBox 11"/>
          <p:cNvSpPr txBox="1"/>
          <p:nvPr/>
        </p:nvSpPr>
        <p:spPr>
          <a:xfrm>
            <a:off x="4937760" y="3703320"/>
            <a:ext cx="6705295" cy="594360"/>
          </a:xfrm>
          <a:prstGeom prst="rect">
            <a:avLst/>
          </a:prstGeom>
          <a:noFill/>
        </p:spPr>
        <p:txBody>
          <a:bodyPr wrap="square" anchor="ctr">
            <a:spAutoFit/>
          </a:bodyPr>
          <a:lstStyle/>
          <a:p>
            <a:pPr algn="l"/>
            <a:r>
              <a:rPr sz="1800" b="0">
                <a:solidFill>
                  <a:srgbClr val="595959"/>
                </a:solidFill>
                <a:latin typeface="맑은 고딕"/>
                <a:ea typeface="맑은 고딕"/>
                <a:cs typeface="맑은 고딕"/>
              </a:rPr>
              <a:t>모델이 따를 원칙을 명시하고 그에 맞게 학습시킨다</a:t>
            </a:r>
          </a:p>
        </p:txBody>
      </p:sp>
      <p:sp>
        <p:nvSpPr>
          <p:cNvPr id="13" name="Rectangle 12"/>
          <p:cNvSpPr/>
          <p:nvPr/>
        </p:nvSpPr>
        <p:spPr>
          <a:xfrm>
            <a:off x="548640" y="4663440"/>
            <a:ext cx="228600" cy="22860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480560"/>
            <a:ext cx="3840480" cy="59436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책임 있는 확장 정책 (RSP)</a:t>
            </a:r>
          </a:p>
        </p:txBody>
      </p:sp>
      <p:sp>
        <p:nvSpPr>
          <p:cNvPr id="15" name="TextBox 14"/>
          <p:cNvSpPr txBox="1"/>
          <p:nvPr/>
        </p:nvSpPr>
        <p:spPr>
          <a:xfrm>
            <a:off x="4937760" y="4480560"/>
            <a:ext cx="6705295" cy="594360"/>
          </a:xfrm>
          <a:prstGeom prst="rect">
            <a:avLst/>
          </a:prstGeom>
          <a:noFill/>
        </p:spPr>
        <p:txBody>
          <a:bodyPr wrap="square" anchor="ctr">
            <a:spAutoFit/>
          </a:bodyPr>
          <a:lstStyle/>
          <a:p>
            <a:pPr algn="l"/>
            <a:r>
              <a:rPr sz="1800" b="0">
                <a:solidFill>
                  <a:srgbClr val="595959"/>
                </a:solidFill>
                <a:latin typeface="맑은 고딕"/>
                <a:ea typeface="맑은 고딕"/>
                <a:cs typeface="맑은 고딕"/>
              </a:rPr>
              <a:t>위험 수준에 따라 안전 조치를 단계적으로 강화한다</a:t>
            </a:r>
          </a:p>
        </p:txBody>
      </p:sp>
      <p:sp>
        <p:nvSpPr>
          <p:cNvPr id="16" name="Rectangle 15"/>
          <p:cNvSpPr/>
          <p:nvPr/>
        </p:nvSpPr>
        <p:spPr>
          <a:xfrm>
            <a:off x="548640" y="5440680"/>
            <a:ext cx="228600" cy="228600"/>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257800"/>
            <a:ext cx="3840480" cy="59436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해석 가능성 연구</a:t>
            </a:r>
          </a:p>
        </p:txBody>
      </p:sp>
      <p:sp>
        <p:nvSpPr>
          <p:cNvPr id="18" name="TextBox 17"/>
          <p:cNvSpPr txBox="1"/>
          <p:nvPr/>
        </p:nvSpPr>
        <p:spPr>
          <a:xfrm>
            <a:off x="4937760" y="5257800"/>
            <a:ext cx="6705295" cy="594360"/>
          </a:xfrm>
          <a:prstGeom prst="rect">
            <a:avLst/>
          </a:prstGeom>
          <a:noFill/>
        </p:spPr>
        <p:txBody>
          <a:bodyPr wrap="square" anchor="ctr">
            <a:spAutoFit/>
          </a:bodyPr>
          <a:lstStyle/>
          <a:p>
            <a:pPr algn="l"/>
            <a:r>
              <a:rPr sz="1800" b="0">
                <a:solidFill>
                  <a:srgbClr val="595959"/>
                </a:solidFill>
                <a:latin typeface="맑은 고딕"/>
                <a:ea typeface="맑은 고딕"/>
                <a:cs typeface="맑은 고딕"/>
              </a:rPr>
              <a:t>모델 내부의 작동 원리를 이해하는 연구에 투자한다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731520"/>
          </a:xfrm>
          <a:prstGeom prst="rect">
            <a:avLst/>
          </a:prstGeom>
          <a:noFill/>
        </p:spPr>
        <p:txBody>
          <a:bodyPr wrap="square" anchor="ctr">
            <a:spAutoFit/>
          </a:bodyPr>
          <a:lstStyle/>
          <a:p>
            <a:pPr algn="l"/>
            <a:r>
              <a:rPr sz="3400" b="1">
                <a:solidFill>
                  <a:srgbClr val="262626"/>
                </a:solidFill>
                <a:latin typeface="맑은 고딕"/>
                <a:ea typeface="맑은 고딕"/>
                <a:cs typeface="맑은 고딕"/>
              </a:rPr>
              <a:t>주요 제품</a:t>
            </a:r>
          </a:p>
        </p:txBody>
      </p:sp>
      <p:sp>
        <p:nvSpPr>
          <p:cNvPr id="3" name="Rectangle 2"/>
          <p:cNvSpPr/>
          <p:nvPr/>
        </p:nvSpPr>
        <p:spPr>
          <a:xfrm>
            <a:off x="548640" y="1234440"/>
            <a:ext cx="1097280" cy="73152"/>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172200"/>
            <a:ext cx="1371600" cy="274320"/>
          </a:xfrm>
          <a:prstGeom prst="rect">
            <a:avLst/>
          </a:prstGeom>
          <a:noFill/>
        </p:spPr>
        <p:txBody>
          <a:bodyPr wrap="square" anchor="t">
            <a:spAutoFit/>
          </a:bodyPr>
          <a:lstStyle/>
          <a:p>
            <a:pPr algn="r"/>
            <a:r>
              <a:rPr sz="1200" b="0">
                <a:solidFill>
                  <a:srgbClr val="595959"/>
                </a:solidFill>
                <a:latin typeface="맑은 고딕"/>
                <a:ea typeface="맑은 고딕"/>
                <a:cs typeface="맑은 고딕"/>
              </a:rPr>
              <a:t>4 / 5</a:t>
            </a:r>
          </a:p>
        </p:txBody>
      </p:sp>
      <p:graphicFrame>
        <p:nvGraphicFramePr>
          <p:cNvPr id="5" name="Table 4"/>
          <p:cNvGraphicFramePr>
            <a:graphicFrameLocks noGrp="1"/>
          </p:cNvGraphicFramePr>
          <p:nvPr/>
        </p:nvGraphicFramePr>
        <p:xfrm>
          <a:off x="548640" y="1645920"/>
          <a:ext cx="11094415" cy="4114800"/>
        </p:xfrm>
        <a:graphic>
          <a:graphicData uri="http://schemas.openxmlformats.org/drawingml/2006/table">
            <a:tbl>
              <a:tblPr firstRow="1" bandRow="1">
                <a:tableStyleId>{5C22544A-7EE6-4342-B048-85BDC9FD1C3A}</a:tableStyleId>
              </a:tblPr>
              <a:tblGrid>
                <a:gridCol w="2560320"/>
                <a:gridCol w="5577840"/>
                <a:gridCol w="2956255"/>
              </a:tblGrid>
              <a:tr h="822960">
                <a:tc>
                  <a:txBody>
                    <a:bodyPr wrap="square" anchor="ctr"/>
                    <a:lstStyle/>
                    <a:p>
                      <a:pPr algn="l"/>
                      <a:r>
                        <a:rPr sz="1800" b="1">
                          <a:solidFill>
                            <a:srgbClr val="FFFFFF"/>
                          </a:solidFill>
                          <a:latin typeface="맑은 고딕"/>
                          <a:ea typeface="맑은 고딕"/>
                          <a:cs typeface="맑은 고딕"/>
                        </a:rPr>
                        <a:t>제품</a:t>
                      </a:r>
                    </a:p>
                  </a:txBody>
                  <a:tcPr marL="182880" marR="182880">
                    <a:solidFill>
                      <a:srgbClr val="E86A10"/>
                    </a:solidFill>
                  </a:tcPr>
                </a:tc>
                <a:tc>
                  <a:txBody>
                    <a:bodyPr wrap="square" anchor="ctr"/>
                    <a:lstStyle/>
                    <a:p>
                      <a:pPr algn="l"/>
                      <a:r>
                        <a:rPr sz="1800" b="1">
                          <a:solidFill>
                            <a:srgbClr val="FFFFFF"/>
                          </a:solidFill>
                          <a:latin typeface="맑은 고딕"/>
                          <a:ea typeface="맑은 고딕"/>
                          <a:cs typeface="맑은 고딕"/>
                        </a:rPr>
                        <a:t>설명</a:t>
                      </a:r>
                    </a:p>
                  </a:txBody>
                  <a:tcPr marL="182880" marR="182880">
                    <a:solidFill>
                      <a:srgbClr val="E86A10"/>
                    </a:solidFill>
                  </a:tcPr>
                </a:tc>
                <a:tc>
                  <a:txBody>
                    <a:bodyPr wrap="square" anchor="ctr"/>
                    <a:lstStyle/>
                    <a:p>
                      <a:pPr algn="l"/>
                      <a:r>
                        <a:rPr sz="1800" b="1">
                          <a:solidFill>
                            <a:srgbClr val="FFFFFF"/>
                          </a:solidFill>
                          <a:latin typeface="맑은 고딕"/>
                          <a:ea typeface="맑은 고딕"/>
                          <a:cs typeface="맑은 고딕"/>
                        </a:rPr>
                        <a:t>주요 대상</a:t>
                      </a:r>
                    </a:p>
                  </a:txBody>
                  <a:tcPr marL="182880" marR="182880">
                    <a:solidFill>
                      <a:srgbClr val="E86A10"/>
                    </a:solidFill>
                  </a:tcPr>
                </a:tc>
              </a:tr>
              <a:tr h="822960">
                <a:tc>
                  <a:txBody>
                    <a:bodyPr wrap="square" anchor="ctr"/>
                    <a:lstStyle/>
                    <a:p>
                      <a:pPr algn="l"/>
                      <a:r>
                        <a:rPr sz="1800" b="1">
                          <a:solidFill>
                            <a:srgbClr val="262626"/>
                          </a:solidFill>
                          <a:latin typeface="맑은 고딕"/>
                          <a:ea typeface="맑은 고딕"/>
                          <a:cs typeface="맑은 고딕"/>
                        </a:rPr>
                        <a:t>Claude 모델</a:t>
                      </a:r>
                    </a:p>
                  </a:txBody>
                  <a:tcPr marL="182880" marR="182880">
                    <a:solidFill>
                      <a:srgbClr val="FFFFFF"/>
                    </a:solidFill>
                  </a:tcPr>
                </a:tc>
                <a:tc>
                  <a:txBody>
                    <a:bodyPr wrap="square" anchor="ctr"/>
                    <a:lstStyle/>
                    <a:p>
                      <a:pPr algn="l"/>
                      <a:r>
                        <a:rPr sz="1600" b="0">
                          <a:solidFill>
                            <a:srgbClr val="595959"/>
                          </a:solidFill>
                          <a:latin typeface="맑은 고딕"/>
                          <a:ea typeface="맑은 고딕"/>
                          <a:cs typeface="맑은 고딕"/>
                        </a:rPr>
                        <a:t>Opus · Sonnet · Haiku 세 등급의 AI 모델</a:t>
                      </a:r>
                    </a:p>
                  </a:txBody>
                  <a:tcPr marL="182880" marR="182880">
                    <a:solidFill>
                      <a:srgbClr val="FFFFFF"/>
                    </a:solidFill>
                  </a:tcPr>
                </a:tc>
                <a:tc>
                  <a:txBody>
                    <a:bodyPr wrap="square" anchor="ctr"/>
                    <a:lstStyle/>
                    <a:p>
                      <a:pPr algn="l"/>
                      <a:r>
                        <a:rPr sz="1600" b="0">
                          <a:solidFill>
                            <a:srgbClr val="595959"/>
                          </a:solidFill>
                          <a:latin typeface="맑은 고딕"/>
                          <a:ea typeface="맑은 고딕"/>
                          <a:cs typeface="맑은 고딕"/>
                        </a:rPr>
                        <a:t>모든 제품의 기반</a:t>
                      </a:r>
                    </a:p>
                  </a:txBody>
                  <a:tcPr marL="182880" marR="182880">
                    <a:solidFill>
                      <a:srgbClr val="FFFFFF"/>
                    </a:solidFill>
                  </a:tcPr>
                </a:tc>
              </a:tr>
              <a:tr h="822960">
                <a:tc>
                  <a:txBody>
                    <a:bodyPr wrap="square" anchor="ctr"/>
                    <a:lstStyle/>
                    <a:p>
                      <a:pPr algn="l"/>
                      <a:r>
                        <a:rPr sz="1800" b="1">
                          <a:solidFill>
                            <a:srgbClr val="262626"/>
                          </a:solidFill>
                          <a:latin typeface="맑은 고딕"/>
                          <a:ea typeface="맑은 고딕"/>
                          <a:cs typeface="맑은 고딕"/>
                        </a:rPr>
                        <a:t>Claude 앱</a:t>
                      </a:r>
                    </a:p>
                  </a:txBody>
                  <a:tcPr marL="182880" marR="182880">
                    <a:solidFill>
                      <a:srgbClr val="FFF1E3"/>
                    </a:solidFill>
                  </a:tcPr>
                </a:tc>
                <a:tc>
                  <a:txBody>
                    <a:bodyPr wrap="square" anchor="ctr"/>
                    <a:lstStyle/>
                    <a:p>
                      <a:pPr algn="l"/>
                      <a:r>
                        <a:rPr sz="1600" b="0">
                          <a:solidFill>
                            <a:srgbClr val="595959"/>
                          </a:solidFill>
                          <a:latin typeface="맑은 고딕"/>
                          <a:ea typeface="맑은 고딕"/>
                          <a:cs typeface="맑은 고딕"/>
                        </a:rPr>
                        <a:t>웹·데스크톱·모바일에서 쓰는 대화형 AI 어시스턴트</a:t>
                      </a:r>
                    </a:p>
                  </a:txBody>
                  <a:tcPr marL="182880" marR="182880">
                    <a:solidFill>
                      <a:srgbClr val="FFF1E3"/>
                    </a:solidFill>
                  </a:tcPr>
                </a:tc>
                <a:tc>
                  <a:txBody>
                    <a:bodyPr wrap="square" anchor="ctr"/>
                    <a:lstStyle/>
                    <a:p>
                      <a:pPr algn="l"/>
                      <a:r>
                        <a:rPr sz="1600" b="0">
                          <a:solidFill>
                            <a:srgbClr val="595959"/>
                          </a:solidFill>
                          <a:latin typeface="맑은 고딕"/>
                          <a:ea typeface="맑은 고딕"/>
                          <a:cs typeface="맑은 고딕"/>
                        </a:rPr>
                        <a:t>개인, 팀, 기업</a:t>
                      </a:r>
                    </a:p>
                  </a:txBody>
                  <a:tcPr marL="182880" marR="182880">
                    <a:solidFill>
                      <a:srgbClr val="FFF1E3"/>
                    </a:solidFill>
                  </a:tcPr>
                </a:tc>
              </a:tr>
              <a:tr h="822960">
                <a:tc>
                  <a:txBody>
                    <a:bodyPr wrap="square" anchor="ctr"/>
                    <a:lstStyle/>
                    <a:p>
                      <a:pPr algn="l"/>
                      <a:r>
                        <a:rPr sz="1800" b="1">
                          <a:solidFill>
                            <a:srgbClr val="262626"/>
                          </a:solidFill>
                          <a:latin typeface="맑은 고딕"/>
                          <a:ea typeface="맑은 고딕"/>
                          <a:cs typeface="맑은 고딕"/>
                        </a:rPr>
                        <a:t>Claude Code</a:t>
                      </a:r>
                    </a:p>
                  </a:txBody>
                  <a:tcPr marL="182880" marR="182880">
                    <a:solidFill>
                      <a:srgbClr val="FFFFFF"/>
                    </a:solidFill>
                  </a:tcPr>
                </a:tc>
                <a:tc>
                  <a:txBody>
                    <a:bodyPr wrap="square" anchor="ctr"/>
                    <a:lstStyle/>
                    <a:p>
                      <a:pPr algn="l"/>
                      <a:r>
                        <a:rPr sz="1600" b="0">
                          <a:solidFill>
                            <a:srgbClr val="595959"/>
                          </a:solidFill>
                          <a:latin typeface="맑은 고딕"/>
                          <a:ea typeface="맑은 고딕"/>
                          <a:cs typeface="맑은 고딕"/>
                        </a:rPr>
                        <a:t>터미널과 IDE에서 코드를 읽고 고치는 코딩 에이전트</a:t>
                      </a:r>
                    </a:p>
                  </a:txBody>
                  <a:tcPr marL="182880" marR="182880">
                    <a:solidFill>
                      <a:srgbClr val="FFFFFF"/>
                    </a:solidFill>
                  </a:tcPr>
                </a:tc>
                <a:tc>
                  <a:txBody>
                    <a:bodyPr wrap="square" anchor="ctr"/>
                    <a:lstStyle/>
                    <a:p>
                      <a:pPr algn="l"/>
                      <a:r>
                        <a:rPr sz="1600" b="0">
                          <a:solidFill>
                            <a:srgbClr val="595959"/>
                          </a:solidFill>
                          <a:latin typeface="맑은 고딕"/>
                          <a:ea typeface="맑은 고딕"/>
                          <a:cs typeface="맑은 고딕"/>
                        </a:rPr>
                        <a:t>개발자</a:t>
                      </a:r>
                    </a:p>
                  </a:txBody>
                  <a:tcPr marL="182880" marR="182880">
                    <a:solidFill>
                      <a:srgbClr val="FFFFFF"/>
                    </a:solidFill>
                  </a:tcPr>
                </a:tc>
              </a:tr>
              <a:tr h="822960">
                <a:tc>
                  <a:txBody>
                    <a:bodyPr wrap="square" anchor="ctr"/>
                    <a:lstStyle/>
                    <a:p>
                      <a:pPr algn="l"/>
                      <a:r>
                        <a:rPr sz="1800" b="1">
                          <a:solidFill>
                            <a:srgbClr val="262626"/>
                          </a:solidFill>
                          <a:latin typeface="맑은 고딕"/>
                          <a:ea typeface="맑은 고딕"/>
                          <a:cs typeface="맑은 고딕"/>
                        </a:rPr>
                        <a:t>Claude API</a:t>
                      </a:r>
                    </a:p>
                  </a:txBody>
                  <a:tcPr marL="182880" marR="182880">
                    <a:solidFill>
                      <a:srgbClr val="FFF1E3"/>
                    </a:solidFill>
                  </a:tcPr>
                </a:tc>
                <a:tc>
                  <a:txBody>
                    <a:bodyPr wrap="square" anchor="ctr"/>
                    <a:lstStyle/>
                    <a:p>
                      <a:pPr algn="l"/>
                      <a:r>
                        <a:rPr sz="1600" b="0">
                          <a:solidFill>
                            <a:srgbClr val="595959"/>
                          </a:solidFill>
                          <a:latin typeface="맑은 고딕"/>
                          <a:ea typeface="맑은 고딕"/>
                          <a:cs typeface="맑은 고딕"/>
                        </a:rPr>
                        <a:t>서비스에 Claude를 연결하는 개발자 플랫폼</a:t>
                      </a:r>
                    </a:p>
                  </a:txBody>
                  <a:tcPr marL="182880" marR="182880">
                    <a:solidFill>
                      <a:srgbClr val="FFF1E3"/>
                    </a:solidFill>
                  </a:tcPr>
                </a:tc>
                <a:tc>
                  <a:txBody>
                    <a:bodyPr wrap="square" anchor="ctr"/>
                    <a:lstStyle/>
                    <a:p>
                      <a:pPr algn="l"/>
                      <a:r>
                        <a:rPr sz="1600" b="0">
                          <a:solidFill>
                            <a:srgbClr val="595959"/>
                          </a:solidFill>
                          <a:latin typeface="맑은 고딕"/>
                          <a:ea typeface="맑은 고딕"/>
                          <a:cs typeface="맑은 고딕"/>
                        </a:rPr>
                        <a:t>개발자, 기업</a:t>
                      </a:r>
                    </a:p>
                  </a:txBody>
                  <a:tcPr marL="182880" marR="182880">
                    <a:solidFill>
                      <a:srgbClr val="FFF1E3"/>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731520"/>
          </a:xfrm>
          <a:prstGeom prst="rect">
            <a:avLst/>
          </a:prstGeom>
          <a:noFill/>
        </p:spPr>
        <p:txBody>
          <a:bodyPr wrap="square" anchor="ctr">
            <a:spAutoFit/>
          </a:bodyPr>
          <a:lstStyle/>
          <a:p>
            <a:pPr algn="l"/>
            <a:r>
              <a:rPr sz="3400" b="1">
                <a:solidFill>
                  <a:srgbClr val="262626"/>
                </a:solidFill>
                <a:latin typeface="맑은 고딕"/>
                <a:ea typeface="맑은 고딕"/>
                <a:cs typeface="맑은 고딕"/>
              </a:rPr>
              <a:t>정리</a:t>
            </a:r>
          </a:p>
        </p:txBody>
      </p:sp>
      <p:sp>
        <p:nvSpPr>
          <p:cNvPr id="3" name="Rectangle 2"/>
          <p:cNvSpPr/>
          <p:nvPr/>
        </p:nvSpPr>
        <p:spPr>
          <a:xfrm>
            <a:off x="548640" y="1234440"/>
            <a:ext cx="1097280" cy="73152"/>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172200"/>
            <a:ext cx="1371600" cy="274320"/>
          </a:xfrm>
          <a:prstGeom prst="rect">
            <a:avLst/>
          </a:prstGeom>
          <a:noFill/>
        </p:spPr>
        <p:txBody>
          <a:bodyPr wrap="square" anchor="t">
            <a:spAutoFit/>
          </a:bodyPr>
          <a:lstStyle/>
          <a:p>
            <a:pPr algn="r"/>
            <a:r>
              <a:rPr sz="1200" b="0">
                <a:solidFill>
                  <a:srgbClr val="595959"/>
                </a:solidFill>
                <a:latin typeface="맑은 고딕"/>
                <a:ea typeface="맑은 고딕"/>
                <a:cs typeface="맑은 고딕"/>
              </a:rPr>
              <a:t>5 / 5</a:t>
            </a:r>
          </a:p>
        </p:txBody>
      </p:sp>
      <p:sp>
        <p:nvSpPr>
          <p:cNvPr id="5" name="Rectangle 4"/>
          <p:cNvSpPr/>
          <p:nvPr/>
        </p:nvSpPr>
        <p:spPr>
          <a:xfrm>
            <a:off x="548640" y="1737360"/>
            <a:ext cx="3474720" cy="2926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103120"/>
            <a:ext cx="731520" cy="731520"/>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맑은 고딕"/>
                <a:ea typeface="맑은 고딕"/>
                <a:cs typeface="맑은 고딕"/>
              </a:rPr>
              <a:t>1</a:t>
            </a:r>
          </a:p>
        </p:txBody>
      </p:sp>
      <p:sp>
        <p:nvSpPr>
          <p:cNvPr id="7" name="TextBox 6"/>
          <p:cNvSpPr txBox="1"/>
          <p:nvPr/>
        </p:nvSpPr>
        <p:spPr>
          <a:xfrm>
            <a:off x="914400" y="3063240"/>
            <a:ext cx="2743200" cy="54864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안전을 최우선으로</a:t>
            </a:r>
          </a:p>
        </p:txBody>
      </p:sp>
      <p:sp>
        <p:nvSpPr>
          <p:cNvPr id="8" name="TextBox 7"/>
          <p:cNvSpPr txBox="1"/>
          <p:nvPr/>
        </p:nvSpPr>
        <p:spPr>
          <a:xfrm>
            <a:off x="914400" y="3657600"/>
            <a:ext cx="2743200" cy="73152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AI 안전 연구에서 출발한 회사</a:t>
            </a:r>
          </a:p>
        </p:txBody>
      </p:sp>
      <p:sp>
        <p:nvSpPr>
          <p:cNvPr id="9" name="Rectangle 8"/>
          <p:cNvSpPr/>
          <p:nvPr/>
        </p:nvSpPr>
        <p:spPr>
          <a:xfrm>
            <a:off x="4358030" y="1737360"/>
            <a:ext cx="3474720" cy="2926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23790" y="2103120"/>
            <a:ext cx="731520" cy="731520"/>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맑은 고딕"/>
                <a:ea typeface="맑은 고딕"/>
                <a:cs typeface="맑은 고딕"/>
              </a:rPr>
              <a:t>2</a:t>
            </a:r>
          </a:p>
        </p:txBody>
      </p:sp>
      <p:sp>
        <p:nvSpPr>
          <p:cNvPr id="11" name="TextBox 10"/>
          <p:cNvSpPr txBox="1"/>
          <p:nvPr/>
        </p:nvSpPr>
        <p:spPr>
          <a:xfrm>
            <a:off x="4723790" y="3063240"/>
            <a:ext cx="2743200" cy="54864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공익을 지향하는 구조</a:t>
            </a:r>
          </a:p>
        </p:txBody>
      </p:sp>
      <p:sp>
        <p:nvSpPr>
          <p:cNvPr id="12" name="TextBox 11"/>
          <p:cNvSpPr txBox="1"/>
          <p:nvPr/>
        </p:nvSpPr>
        <p:spPr>
          <a:xfrm>
            <a:off x="4723790" y="3657600"/>
            <a:ext cx="2743200" cy="73152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공익법인(PBC)으로 운영</a:t>
            </a:r>
          </a:p>
        </p:txBody>
      </p:sp>
      <p:sp>
        <p:nvSpPr>
          <p:cNvPr id="13" name="Rectangle 12"/>
          <p:cNvSpPr/>
          <p:nvPr/>
        </p:nvSpPr>
        <p:spPr>
          <a:xfrm>
            <a:off x="8167420" y="1737360"/>
            <a:ext cx="3474720" cy="2926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33180" y="2103120"/>
            <a:ext cx="731520" cy="731520"/>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맑은 고딕"/>
                <a:ea typeface="맑은 고딕"/>
                <a:cs typeface="맑은 고딕"/>
              </a:rPr>
              <a:t>3</a:t>
            </a:r>
          </a:p>
        </p:txBody>
      </p:sp>
      <p:sp>
        <p:nvSpPr>
          <p:cNvPr id="15" name="TextBox 14"/>
          <p:cNvSpPr txBox="1"/>
          <p:nvPr/>
        </p:nvSpPr>
        <p:spPr>
          <a:xfrm>
            <a:off x="8533180" y="3063240"/>
            <a:ext cx="2743200" cy="548640"/>
          </a:xfrm>
          <a:prstGeom prst="rect">
            <a:avLst/>
          </a:prstGeom>
          <a:noFill/>
        </p:spPr>
        <p:txBody>
          <a:bodyPr wrap="square" anchor="ctr">
            <a:spAutoFit/>
          </a:bodyPr>
          <a:lstStyle/>
          <a:p>
            <a:pPr algn="l"/>
            <a:r>
              <a:rPr sz="2200" b="1">
                <a:solidFill>
                  <a:srgbClr val="262626"/>
                </a:solidFill>
                <a:latin typeface="맑은 고딕"/>
                <a:ea typeface="맑은 고딕"/>
                <a:cs typeface="맑은 고딕"/>
              </a:rPr>
              <a:t>Claude로 실현</a:t>
            </a:r>
          </a:p>
        </p:txBody>
      </p:sp>
      <p:sp>
        <p:nvSpPr>
          <p:cNvPr id="16" name="TextBox 15"/>
          <p:cNvSpPr txBox="1"/>
          <p:nvPr/>
        </p:nvSpPr>
        <p:spPr>
          <a:xfrm>
            <a:off x="8533180" y="3657600"/>
            <a:ext cx="2743200" cy="731520"/>
          </a:xfrm>
          <a:prstGeom prst="rect">
            <a:avLst/>
          </a:prstGeom>
          <a:noFill/>
        </p:spPr>
        <p:txBody>
          <a:bodyPr wrap="square" anchor="t">
            <a:spAutoFit/>
          </a:bodyPr>
          <a:lstStyle/>
          <a:p>
            <a:pPr algn="l"/>
            <a:r>
              <a:rPr sz="1600" b="0">
                <a:solidFill>
                  <a:srgbClr val="595959"/>
                </a:solidFill>
                <a:latin typeface="맑은 고딕"/>
                <a:ea typeface="맑은 고딕"/>
                <a:cs typeface="맑은 고딕"/>
              </a:rPr>
              <a:t>모델·앱·Claude Code·API 제공</a:t>
            </a:r>
          </a:p>
        </p:txBody>
      </p:sp>
      <p:sp>
        <p:nvSpPr>
          <p:cNvPr id="17" name="TextBox 16"/>
          <p:cNvSpPr txBox="1"/>
          <p:nvPr/>
        </p:nvSpPr>
        <p:spPr>
          <a:xfrm>
            <a:off x="548640" y="5029200"/>
            <a:ext cx="11094415" cy="731520"/>
          </a:xfrm>
          <a:prstGeom prst="rect">
            <a:avLst/>
          </a:prstGeom>
          <a:noFill/>
        </p:spPr>
        <p:txBody>
          <a:bodyPr wrap="square" anchor="ctr">
            <a:spAutoFit/>
          </a:bodyPr>
          <a:lstStyle/>
          <a:p>
            <a:pPr algn="ctr"/>
            <a:r>
              <a:rPr sz="2600" b="1">
                <a:solidFill>
                  <a:srgbClr val="E86A10"/>
                </a:solidFill>
                <a:latin typeface="맑은 고딕"/>
                <a:ea typeface="맑은 고딕"/>
                <a:cs typeface="맑은 고딕"/>
              </a:rPr>
              <a:t>Anthropic = 안전을 최우선으로 하는 AI 기업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Anthropic 회사 소개</dc:title>
  <dc:subject>Claude를 만드는 AI 회사</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